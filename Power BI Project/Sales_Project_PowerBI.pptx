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sldIdLst>
    <p:sldId id="256" r:id="rId2"/>
    <p:sldId id="262" r:id="rId3"/>
    <p:sldId id="257" r:id="rId4"/>
    <p:sldId id="258" r:id="rId5"/>
    <p:sldId id="263" r:id="rId6"/>
    <p:sldId id="259" r:id="rId7"/>
    <p:sldId id="260" r:id="rId8"/>
    <p:sldId id="264" r:id="rId9"/>
    <p:sldId id="265" r:id="rId10"/>
    <p:sldId id="266" r:id="rId11"/>
    <p:sldId id="267" r:id="rId12"/>
    <p:sldId id="268" r:id="rId13"/>
    <p:sldId id="269" r:id="rId14"/>
    <p:sldId id="270" r:id="rId15"/>
    <p:sldId id="271" r:id="rId16"/>
    <p:sldId id="261" r:id="rId17"/>
    <p:sldId id="273"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9" d="100"/>
          <a:sy n="99" d="100"/>
        </p:scale>
        <p:origin x="9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4371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4491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527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5925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62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1777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1500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3782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10/9/2025</a:t>
            </a:fld>
            <a:endParaRPr lang="en-US"/>
          </a:p>
        </p:txBody>
      </p:sp>
      <p:sp>
        <p:nvSpPr>
          <p:cNvPr id="6" name="Footer Placeholder 5"/>
          <p:cNvSpPr>
            <a:spLocks noGrp="1"/>
          </p:cNvSpPr>
          <p:nvPr>
            <p:ph type="ftr" sz="quarter" idx="11"/>
          </p:nvPr>
        </p:nvSpPr>
        <p:spPr>
          <a:xfrm>
            <a:off x="533400" y="6172200"/>
            <a:ext cx="5811724"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0666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smtClean="0"/>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78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2536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1648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4403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40422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0459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5915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6041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10/9/2025</a:t>
            </a:fld>
            <a:endParaRPr lang="en-US"/>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81115903"/>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8105503" cy="2192383"/>
          </a:xfr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r>
              <a:rPr dirty="0"/>
              <a:t>E-Commerce Sales Dashboard </a:t>
            </a:r>
            <a:r>
              <a:rPr dirty="0" smtClean="0"/>
              <a:t>Project</a:t>
            </a:r>
            <a:r>
              <a:rPr lang="en-IN" dirty="0" smtClean="0"/>
              <a:t> – Power BI</a:t>
            </a:r>
            <a:endParaRPr dirty="0"/>
          </a:p>
        </p:txBody>
      </p:sp>
      <p:sp>
        <p:nvSpPr>
          <p:cNvPr id="3" name="Subtitle 2"/>
          <p:cNvSpPr>
            <a:spLocks noGrp="1"/>
          </p:cNvSpPr>
          <p:nvPr>
            <p:ph type="subTitle" idx="1"/>
          </p:nvPr>
        </p:nvSpPr>
        <p:spPr>
          <a:xfrm>
            <a:off x="1371600" y="3337560"/>
            <a:ext cx="6400800" cy="1304109"/>
          </a:xfrm>
          <a:ln/>
        </p:spPr>
        <p:style>
          <a:lnRef idx="1">
            <a:schemeClr val="accent1"/>
          </a:lnRef>
          <a:fillRef idx="2">
            <a:schemeClr val="accent1"/>
          </a:fillRef>
          <a:effectRef idx="1">
            <a:schemeClr val="accent1"/>
          </a:effectRef>
          <a:fontRef idx="minor">
            <a:schemeClr val="dk1"/>
          </a:fontRef>
        </p:style>
        <p:txBody>
          <a:bodyPr>
            <a:normAutofit/>
          </a:bodyPr>
          <a:lstStyle/>
          <a:p>
            <a:pPr algn="ctr"/>
            <a:r>
              <a:rPr lang="en-IN" sz="2000" dirty="0" smtClean="0">
                <a:solidFill>
                  <a:schemeClr val="tx1"/>
                </a:solidFill>
              </a:rPr>
              <a:t>By</a:t>
            </a:r>
          </a:p>
          <a:p>
            <a:pPr algn="ctr"/>
            <a:r>
              <a:rPr lang="en-IN" sz="2000" dirty="0" err="1" smtClean="0">
                <a:solidFill>
                  <a:schemeClr val="tx1"/>
                </a:solidFill>
              </a:rPr>
              <a:t>Kranthi</a:t>
            </a:r>
            <a:r>
              <a:rPr lang="en-IN" sz="2000" dirty="0" smtClean="0">
                <a:solidFill>
                  <a:schemeClr val="tx1"/>
                </a:solidFill>
              </a:rPr>
              <a:t> Kumar Reddy </a:t>
            </a:r>
            <a:r>
              <a:rPr lang="en-IN" sz="2000" dirty="0" err="1" smtClean="0">
                <a:solidFill>
                  <a:schemeClr val="tx1"/>
                </a:solidFill>
              </a:rPr>
              <a:t>Yaramala</a:t>
            </a:r>
            <a:endParaRPr sz="20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3" y="106680"/>
            <a:ext cx="7863840" cy="1524000"/>
          </a:xfr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C</a:t>
            </a:r>
            <a:r>
              <a:rPr lang="en-IN" dirty="0" smtClean="0"/>
              <a:t>ONTENTS</a:t>
            </a:r>
            <a:endParaRPr lang="en-IN" dirty="0"/>
          </a:p>
        </p:txBody>
      </p:sp>
      <p:sp>
        <p:nvSpPr>
          <p:cNvPr id="3" name="Content Placeholder 2"/>
          <p:cNvSpPr>
            <a:spLocks noGrp="1"/>
          </p:cNvSpPr>
          <p:nvPr>
            <p:ph idx="1"/>
          </p:nvPr>
        </p:nvSpPr>
        <p:spPr>
          <a:xfrm>
            <a:off x="653143" y="2031274"/>
            <a:ext cx="7863839" cy="3767670"/>
          </a:xfrm>
        </p:spPr>
        <p:txBody>
          <a:bodyPr>
            <a:normAutofit fontScale="70000" lnSpcReduction="20000"/>
          </a:bodyPr>
          <a:lstStyle/>
          <a:p>
            <a:r>
              <a:rPr lang="en-IN" dirty="0" smtClean="0">
                <a:solidFill>
                  <a:schemeClr val="tx1"/>
                </a:solidFill>
              </a:rPr>
              <a:t>OBJECTIVE</a:t>
            </a:r>
          </a:p>
          <a:p>
            <a:r>
              <a:rPr lang="en-IN" dirty="0" smtClean="0">
                <a:solidFill>
                  <a:schemeClr val="tx1"/>
                </a:solidFill>
              </a:rPr>
              <a:t>DATA SOURCING AND DATA CLEANING</a:t>
            </a:r>
          </a:p>
          <a:p>
            <a:r>
              <a:rPr lang="en-IN" dirty="0" smtClean="0">
                <a:solidFill>
                  <a:schemeClr val="tx1"/>
                </a:solidFill>
              </a:rPr>
              <a:t>OVERVIEW</a:t>
            </a:r>
          </a:p>
          <a:p>
            <a:r>
              <a:rPr lang="en-IN" dirty="0" smtClean="0">
                <a:solidFill>
                  <a:schemeClr val="tx1"/>
                </a:solidFill>
              </a:rPr>
              <a:t>PROFIT BY MONTH</a:t>
            </a:r>
          </a:p>
          <a:p>
            <a:r>
              <a:rPr lang="en-IN" dirty="0" smtClean="0">
                <a:solidFill>
                  <a:schemeClr val="tx1"/>
                </a:solidFill>
              </a:rPr>
              <a:t>SALES BY STATE</a:t>
            </a:r>
          </a:p>
          <a:p>
            <a:r>
              <a:rPr lang="en-IN" dirty="0" smtClean="0">
                <a:solidFill>
                  <a:schemeClr val="tx1"/>
                </a:solidFill>
              </a:rPr>
              <a:t>QUANTITY BY CATEGORY</a:t>
            </a:r>
          </a:p>
          <a:p>
            <a:r>
              <a:rPr lang="en-IN" dirty="0" smtClean="0">
                <a:solidFill>
                  <a:schemeClr val="tx1"/>
                </a:solidFill>
              </a:rPr>
              <a:t>QUANTITY BY PAYMENT MODE DISTRIBUTION</a:t>
            </a:r>
          </a:p>
          <a:p>
            <a:r>
              <a:rPr lang="en-IN" dirty="0" smtClean="0">
                <a:solidFill>
                  <a:schemeClr val="tx1"/>
                </a:solidFill>
              </a:rPr>
              <a:t>SALES BY CUSTOMER</a:t>
            </a:r>
          </a:p>
          <a:p>
            <a:r>
              <a:rPr lang="en-IN" dirty="0" smtClean="0">
                <a:solidFill>
                  <a:schemeClr val="tx1"/>
                </a:solidFill>
              </a:rPr>
              <a:t>PROFIT BY SUB-CATEGORY</a:t>
            </a:r>
          </a:p>
          <a:p>
            <a:r>
              <a:rPr lang="en-IN" dirty="0" smtClean="0">
                <a:solidFill>
                  <a:schemeClr val="tx1"/>
                </a:solidFill>
              </a:rPr>
              <a:t>BUSINESS INSIGHTS AND KEY FINDINGS</a:t>
            </a:r>
          </a:p>
          <a:p>
            <a:r>
              <a:rPr lang="en-IN" dirty="0" smtClean="0">
                <a:solidFill>
                  <a:schemeClr val="tx1"/>
                </a:solidFill>
              </a:rPr>
              <a:t>RECOMMENDATIONS</a:t>
            </a:r>
          </a:p>
          <a:p>
            <a:r>
              <a:rPr lang="en-IN" dirty="0" smtClean="0">
                <a:solidFill>
                  <a:schemeClr val="tx1"/>
                </a:solidFill>
              </a:rPr>
              <a:t>CONCLUSION</a:t>
            </a:r>
          </a:p>
          <a:p>
            <a:endParaRPr lang="en-IN" dirty="0"/>
          </a:p>
        </p:txBody>
      </p:sp>
    </p:spTree>
    <p:extLst>
      <p:ext uri="{BB962C8B-B14F-4D97-AF65-F5344CB8AC3E}">
        <p14:creationId xmlns:p14="http://schemas.microsoft.com/office/powerpoint/2010/main" val="610579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223" y="385355"/>
            <a:ext cx="8064137" cy="1524000"/>
          </a:xfrm>
        </p:spPr>
        <p:style>
          <a:lnRef idx="0">
            <a:schemeClr val="accent3"/>
          </a:lnRef>
          <a:fillRef idx="3">
            <a:schemeClr val="accent3"/>
          </a:fillRef>
          <a:effectRef idx="3">
            <a:schemeClr val="accent3"/>
          </a:effectRef>
          <a:fontRef idx="minor">
            <a:schemeClr val="lt1"/>
          </a:fontRef>
        </p:style>
        <p:txBody>
          <a:bodyPr/>
          <a:lstStyle/>
          <a:p>
            <a:pPr algn="ctr"/>
            <a:r>
              <a:rPr lang="en-IN" dirty="0" smtClean="0"/>
              <a:t>OBJECTIVE</a:t>
            </a:r>
            <a:endParaRPr dirty="0"/>
          </a:p>
        </p:txBody>
      </p:sp>
      <p:sp>
        <p:nvSpPr>
          <p:cNvPr id="3" name="Content Placeholder 2"/>
          <p:cNvSpPr>
            <a:spLocks noGrp="1"/>
          </p:cNvSpPr>
          <p:nvPr>
            <p:ph idx="1"/>
          </p:nvPr>
        </p:nvSpPr>
        <p:spPr>
          <a:xfrm>
            <a:off x="452846" y="2161902"/>
            <a:ext cx="8264434" cy="3767670"/>
          </a:xfrm>
        </p:spPr>
        <p:txBody>
          <a:bodyPr>
            <a:normAutofit/>
          </a:bodyPr>
          <a:lstStyle/>
          <a:p>
            <a:r>
              <a:rPr lang="en-IN" dirty="0">
                <a:solidFill>
                  <a:schemeClr val="tx1"/>
                </a:solidFill>
              </a:rPr>
              <a:t>The main objective of this project is to </a:t>
            </a:r>
            <a:r>
              <a:rPr lang="en-US" dirty="0">
                <a:solidFill>
                  <a:schemeClr val="tx1"/>
                </a:solidFill>
              </a:rPr>
              <a:t>analyze sales performance for an E-Commerce company over a specific time period.</a:t>
            </a:r>
          </a:p>
          <a:p>
            <a:r>
              <a:rPr lang="en-IN" dirty="0">
                <a:solidFill>
                  <a:schemeClr val="tx1"/>
                </a:solidFill>
              </a:rPr>
              <a:t> It will make us understand about the overall performance of the </a:t>
            </a:r>
            <a:r>
              <a:rPr lang="en-IN" dirty="0" smtClean="0">
                <a:solidFill>
                  <a:schemeClr val="tx1"/>
                </a:solidFill>
              </a:rPr>
              <a:t>sales and profits by month, state and category and sub-category and customer wise as </a:t>
            </a:r>
            <a:r>
              <a:rPr lang="en-IN" dirty="0">
                <a:solidFill>
                  <a:schemeClr val="tx1"/>
                </a:solidFill>
              </a:rPr>
              <a:t>well in E-Commerce company.</a:t>
            </a:r>
          </a:p>
          <a:p>
            <a:r>
              <a:rPr lang="en-IN" dirty="0">
                <a:solidFill>
                  <a:schemeClr val="tx1"/>
                </a:solidFill>
              </a:rPr>
              <a:t>With this project we can easily understand how the performance of the sales which will effect the overall growth and revenue of the E-Commerce Company.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847" y="178525"/>
            <a:ext cx="8281850" cy="1524000"/>
          </a:xfrm>
        </p:spPr>
        <p:style>
          <a:lnRef idx="0">
            <a:schemeClr val="accent2"/>
          </a:lnRef>
          <a:fillRef idx="3">
            <a:schemeClr val="accent2"/>
          </a:fillRef>
          <a:effectRef idx="3">
            <a:schemeClr val="accent2"/>
          </a:effectRef>
          <a:fontRef idx="minor">
            <a:schemeClr val="lt1"/>
          </a:fontRef>
        </p:style>
        <p:txBody>
          <a:bodyPr/>
          <a:lstStyle/>
          <a:p>
            <a:pPr algn="ctr"/>
            <a:r>
              <a:rPr lang="en-IN" dirty="0" smtClean="0"/>
              <a:t>Data sourcing and data cleaning</a:t>
            </a:r>
            <a:endParaRPr dirty="0"/>
          </a:p>
        </p:txBody>
      </p:sp>
      <p:sp>
        <p:nvSpPr>
          <p:cNvPr id="3" name="Content Placeholder 2"/>
          <p:cNvSpPr>
            <a:spLocks noGrp="1"/>
          </p:cNvSpPr>
          <p:nvPr>
            <p:ph idx="1"/>
          </p:nvPr>
        </p:nvSpPr>
        <p:spPr>
          <a:xfrm>
            <a:off x="452846" y="1900646"/>
            <a:ext cx="8281851" cy="3767670"/>
          </a:xfrm>
        </p:spPr>
        <p:txBody>
          <a:bodyPr>
            <a:normAutofit/>
          </a:bodyPr>
          <a:lstStyle/>
          <a:p>
            <a:pPr marL="0" indent="0">
              <a:buNone/>
            </a:pPr>
            <a:r>
              <a:rPr lang="en-IN" u="sng" dirty="0" smtClean="0">
                <a:solidFill>
                  <a:schemeClr val="tx1"/>
                </a:solidFill>
              </a:rPr>
              <a:t>Data Sourcing</a:t>
            </a:r>
            <a:r>
              <a:rPr lang="en-IN" dirty="0" smtClean="0">
                <a:solidFill>
                  <a:schemeClr val="tx1"/>
                </a:solidFill>
              </a:rPr>
              <a:t>:</a:t>
            </a:r>
          </a:p>
          <a:p>
            <a:r>
              <a:rPr lang="en-IN" dirty="0" smtClean="0">
                <a:solidFill>
                  <a:schemeClr val="tx1"/>
                </a:solidFill>
              </a:rPr>
              <a:t>For this project I have used the datasets of details and orders csv files which are provided by the company</a:t>
            </a:r>
          </a:p>
          <a:p>
            <a:endParaRPr lang="en-IN" dirty="0">
              <a:solidFill>
                <a:schemeClr val="tx1"/>
              </a:solidFill>
            </a:endParaRPr>
          </a:p>
          <a:p>
            <a:pPr marL="0" indent="0">
              <a:buNone/>
            </a:pPr>
            <a:r>
              <a:rPr lang="en-IN" u="sng" dirty="0" smtClean="0">
                <a:solidFill>
                  <a:schemeClr val="tx1"/>
                </a:solidFill>
              </a:rPr>
              <a:t>Data Cleaning</a:t>
            </a:r>
            <a:r>
              <a:rPr lang="en-IN" dirty="0" smtClean="0">
                <a:solidFill>
                  <a:schemeClr val="tx1"/>
                </a:solidFill>
              </a:rPr>
              <a:t>:</a:t>
            </a:r>
          </a:p>
          <a:p>
            <a:pPr marL="0" indent="0">
              <a:buNone/>
            </a:pPr>
            <a:r>
              <a:rPr lang="en-IN" dirty="0" smtClean="0">
                <a:solidFill>
                  <a:schemeClr val="tx1"/>
                </a:solidFill>
              </a:rPr>
              <a:t>After Downloading the datasets I have exported the both the datasets to Microsoft Excel in order to check for inconsistencies and clean the datasets to make it usable for visualization and analysis in the datasets looking fine and I have changed the date format and finally the dataset is ready for usage in this project.</a:t>
            </a:r>
            <a:endParaRPr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71" y="124097"/>
            <a:ext cx="8203475" cy="1524000"/>
          </a:xfrm>
        </p:spPr>
        <p:txBody>
          <a:bodyPr/>
          <a:lstStyle/>
          <a:p>
            <a:pPr algn="ctr"/>
            <a:r>
              <a:rPr lang="en-IN" dirty="0" smtClean="0"/>
              <a:t>Screenshots for data cleaning</a:t>
            </a:r>
            <a:endParaRPr lang="en-IN" dirty="0"/>
          </a:p>
        </p:txBody>
      </p:sp>
      <p:pic>
        <p:nvPicPr>
          <p:cNvPr id="4" name="Content Placeholder 3"/>
          <p:cNvPicPr>
            <a:picLocks noGrp="1" noChangeAspect="1"/>
          </p:cNvPicPr>
          <p:nvPr>
            <p:ph idx="1"/>
          </p:nvPr>
        </p:nvPicPr>
        <p:blipFill>
          <a:blip r:embed="rId2"/>
          <a:stretch>
            <a:fillRect/>
          </a:stretch>
        </p:blipFill>
        <p:spPr>
          <a:xfrm>
            <a:off x="654046" y="2354263"/>
            <a:ext cx="3708090" cy="4064000"/>
          </a:xfrm>
          <a:prstGeom prst="rect">
            <a:avLst/>
          </a:prstGeom>
        </p:spPr>
      </p:pic>
      <p:sp>
        <p:nvSpPr>
          <p:cNvPr id="5" name="TextBox 4"/>
          <p:cNvSpPr txBox="1"/>
          <p:nvPr/>
        </p:nvSpPr>
        <p:spPr>
          <a:xfrm>
            <a:off x="1820092" y="1814728"/>
            <a:ext cx="931817" cy="369332"/>
          </a:xfrm>
          <a:prstGeom prst="rect">
            <a:avLst/>
          </a:prstGeom>
          <a:noFill/>
        </p:spPr>
        <p:txBody>
          <a:bodyPr wrap="square" rtlCol="0">
            <a:spAutoFit/>
          </a:bodyPr>
          <a:lstStyle/>
          <a:p>
            <a:r>
              <a:rPr lang="en-IN" dirty="0" smtClean="0"/>
              <a:t>Orders</a:t>
            </a:r>
            <a:endParaRPr lang="en-IN" dirty="0"/>
          </a:p>
        </p:txBody>
      </p:sp>
      <p:pic>
        <p:nvPicPr>
          <p:cNvPr id="6" name="Picture 5"/>
          <p:cNvPicPr>
            <a:picLocks noChangeAspect="1"/>
          </p:cNvPicPr>
          <p:nvPr/>
        </p:nvPicPr>
        <p:blipFill>
          <a:blip r:embed="rId3"/>
          <a:stretch>
            <a:fillRect/>
          </a:stretch>
        </p:blipFill>
        <p:spPr>
          <a:xfrm>
            <a:off x="4772297" y="2354263"/>
            <a:ext cx="3767832" cy="4014652"/>
          </a:xfrm>
          <a:prstGeom prst="rect">
            <a:avLst/>
          </a:prstGeom>
        </p:spPr>
      </p:pic>
      <p:sp>
        <p:nvSpPr>
          <p:cNvPr id="7" name="TextBox 6"/>
          <p:cNvSpPr txBox="1"/>
          <p:nvPr/>
        </p:nvSpPr>
        <p:spPr>
          <a:xfrm>
            <a:off x="6069874" y="1814728"/>
            <a:ext cx="925253" cy="369332"/>
          </a:xfrm>
          <a:prstGeom prst="rect">
            <a:avLst/>
          </a:prstGeom>
          <a:noFill/>
        </p:spPr>
        <p:txBody>
          <a:bodyPr wrap="none" rtlCol="0">
            <a:spAutoFit/>
          </a:bodyPr>
          <a:lstStyle/>
          <a:p>
            <a:r>
              <a:rPr lang="en-IN" dirty="0" smtClean="0"/>
              <a:t>Details</a:t>
            </a:r>
            <a:endParaRPr lang="en-IN" dirty="0"/>
          </a:p>
        </p:txBody>
      </p:sp>
    </p:spTree>
    <p:extLst>
      <p:ext uri="{BB962C8B-B14F-4D97-AF65-F5344CB8AC3E}">
        <p14:creationId xmlns:p14="http://schemas.microsoft.com/office/powerpoint/2010/main" val="2528632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7" y="95794"/>
            <a:ext cx="8290559" cy="992777"/>
          </a:xfrm>
        </p:spPr>
        <p:style>
          <a:lnRef idx="0">
            <a:schemeClr val="accent5"/>
          </a:lnRef>
          <a:fillRef idx="3">
            <a:schemeClr val="accent5"/>
          </a:fillRef>
          <a:effectRef idx="3">
            <a:schemeClr val="accent5"/>
          </a:effectRef>
          <a:fontRef idx="minor">
            <a:schemeClr val="lt1"/>
          </a:fontRef>
        </p:style>
        <p:txBody>
          <a:bodyPr/>
          <a:lstStyle/>
          <a:p>
            <a:pPr algn="ctr"/>
            <a:r>
              <a:rPr dirty="0" smtClean="0"/>
              <a:t>Overview</a:t>
            </a:r>
            <a:endParaRPr dirty="0"/>
          </a:p>
        </p:txBody>
      </p:sp>
      <p:pic>
        <p:nvPicPr>
          <p:cNvPr id="3" name="Picture 2" descr="99c4cd09-086e-43f3-bbfd-8c909885b588.png"/>
          <p:cNvPicPr>
            <a:picLocks noChangeAspect="1"/>
          </p:cNvPicPr>
          <p:nvPr/>
        </p:nvPicPr>
        <p:blipFill>
          <a:blip r:embed="rId2"/>
          <a:stretch>
            <a:fillRect/>
          </a:stretch>
        </p:blipFill>
        <p:spPr>
          <a:xfrm>
            <a:off x="444137" y="1458685"/>
            <a:ext cx="8290560" cy="4209950"/>
          </a:xfrm>
          <a:prstGeom prst="rect">
            <a:avLst/>
          </a:prstGeom>
        </p:spPr>
      </p:pic>
      <p:sp>
        <p:nvSpPr>
          <p:cNvPr id="4" name="TextBox 3"/>
          <p:cNvSpPr txBox="1"/>
          <p:nvPr/>
        </p:nvSpPr>
        <p:spPr>
          <a:xfrm>
            <a:off x="375558" y="5913120"/>
            <a:ext cx="8359139" cy="646331"/>
          </a:xfrm>
          <a:prstGeom prst="rect">
            <a:avLst/>
          </a:prstGeom>
          <a:noFill/>
        </p:spPr>
        <p:txBody>
          <a:bodyPr wrap="square" rtlCol="0">
            <a:spAutoFit/>
          </a:bodyPr>
          <a:lstStyle/>
          <a:p>
            <a:r>
              <a:rPr lang="en-IN" dirty="0" smtClean="0"/>
              <a:t>The dashboard presents a comprehensive view of the sales performance across multiple dimensions like categories, month, customer and state</a:t>
            </a: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591" y="141514"/>
            <a:ext cx="8144359" cy="1312817"/>
          </a:xfr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pPr algn="ctr"/>
            <a:r>
              <a:rPr lang="en-IN" dirty="0" smtClean="0"/>
              <a:t>PROFIT BY MONTH</a:t>
            </a:r>
            <a:endParaRPr dirty="0"/>
          </a:p>
        </p:txBody>
      </p:sp>
      <p:sp>
        <p:nvSpPr>
          <p:cNvPr id="5" name="TextBox 4"/>
          <p:cNvSpPr txBox="1"/>
          <p:nvPr/>
        </p:nvSpPr>
        <p:spPr>
          <a:xfrm>
            <a:off x="521590" y="5355993"/>
            <a:ext cx="8144359" cy="1477328"/>
          </a:xfrm>
          <a:prstGeom prst="rect">
            <a:avLst/>
          </a:prstGeom>
          <a:noFill/>
        </p:spPr>
        <p:txBody>
          <a:bodyPr wrap="square" rtlCol="0">
            <a:spAutoFit/>
          </a:bodyPr>
          <a:lstStyle/>
          <a:p>
            <a:r>
              <a:rPr lang="en-IN" dirty="0" smtClean="0"/>
              <a:t>INSIGHTS:</a:t>
            </a:r>
          </a:p>
          <a:p>
            <a:pPr marL="285750" indent="-285750">
              <a:buFont typeface="Arial" panose="020B0604020202020204" pitchFamily="34" charset="0"/>
              <a:buChar char="•"/>
            </a:pPr>
            <a:r>
              <a:rPr lang="en-US" b="1" dirty="0"/>
              <a:t>January </a:t>
            </a:r>
            <a:r>
              <a:rPr lang="en-US" b="1" dirty="0" smtClean="0"/>
              <a:t>(9.7K</a:t>
            </a:r>
            <a:r>
              <a:rPr lang="en-US" b="1" dirty="0"/>
              <a:t>)</a:t>
            </a:r>
            <a:r>
              <a:rPr lang="en-US" dirty="0"/>
              <a:t>, </a:t>
            </a:r>
            <a:r>
              <a:rPr lang="en-US" b="1" dirty="0"/>
              <a:t>February </a:t>
            </a:r>
            <a:r>
              <a:rPr lang="en-US" b="1" dirty="0" smtClean="0"/>
              <a:t>(8.5K</a:t>
            </a:r>
            <a:r>
              <a:rPr lang="en-US" b="1" dirty="0"/>
              <a:t>)</a:t>
            </a:r>
            <a:r>
              <a:rPr lang="en-US" dirty="0"/>
              <a:t>, and </a:t>
            </a:r>
            <a:r>
              <a:rPr lang="en-US" b="1" dirty="0"/>
              <a:t>November </a:t>
            </a:r>
            <a:r>
              <a:rPr lang="en-US" b="1" dirty="0" smtClean="0"/>
              <a:t>(10.3K</a:t>
            </a:r>
            <a:r>
              <a:rPr lang="en-US" b="1" dirty="0"/>
              <a:t>)</a:t>
            </a:r>
            <a:r>
              <a:rPr lang="en-US" dirty="0"/>
              <a:t> are the strongest months, indicating high-demand </a:t>
            </a:r>
            <a:r>
              <a:rPr lang="en-US" dirty="0" smtClean="0"/>
              <a:t>periods.</a:t>
            </a:r>
          </a:p>
          <a:p>
            <a:pPr marL="285750" indent="-285750">
              <a:buFont typeface="Arial" panose="020B0604020202020204" pitchFamily="34" charset="0"/>
              <a:buChar char="•"/>
            </a:pPr>
            <a:r>
              <a:rPr lang="en-US" b="1" dirty="0" smtClean="0"/>
              <a:t>May (-3.7K</a:t>
            </a:r>
            <a:r>
              <a:rPr lang="en-US" b="1" dirty="0"/>
              <a:t>)</a:t>
            </a:r>
            <a:r>
              <a:rPr lang="en-US" dirty="0"/>
              <a:t>, </a:t>
            </a:r>
            <a:r>
              <a:rPr lang="en-US" b="1" dirty="0"/>
              <a:t>July </a:t>
            </a:r>
            <a:r>
              <a:rPr lang="en-US" b="1" dirty="0" smtClean="0"/>
              <a:t>(-2.1K</a:t>
            </a:r>
            <a:r>
              <a:rPr lang="en-US" b="1" dirty="0"/>
              <a:t>)</a:t>
            </a:r>
            <a:r>
              <a:rPr lang="en-US" dirty="0"/>
              <a:t>, </a:t>
            </a:r>
            <a:r>
              <a:rPr lang="en-US" b="1" dirty="0"/>
              <a:t>September </a:t>
            </a:r>
            <a:r>
              <a:rPr lang="en-US" b="1" dirty="0" smtClean="0"/>
              <a:t>(-1.4K</a:t>
            </a:r>
            <a:r>
              <a:rPr lang="en-US" b="1" dirty="0"/>
              <a:t>)</a:t>
            </a:r>
            <a:r>
              <a:rPr lang="en-US" dirty="0"/>
              <a:t>, and </a:t>
            </a:r>
            <a:r>
              <a:rPr lang="en-US" b="1" dirty="0"/>
              <a:t>December </a:t>
            </a:r>
            <a:r>
              <a:rPr lang="en-US" b="1" dirty="0" smtClean="0"/>
              <a:t>(-1.6K</a:t>
            </a:r>
            <a:r>
              <a:rPr lang="en-US" b="1" dirty="0"/>
              <a:t>)</a:t>
            </a:r>
            <a:r>
              <a:rPr lang="en-US" dirty="0"/>
              <a:t> experienced substantial losses.</a:t>
            </a:r>
            <a:endParaRPr lang="en-IN" dirty="0"/>
          </a:p>
        </p:txBody>
      </p:sp>
      <p:pic>
        <p:nvPicPr>
          <p:cNvPr id="6" name="Picture 5"/>
          <p:cNvPicPr>
            <a:picLocks noChangeAspect="1"/>
          </p:cNvPicPr>
          <p:nvPr/>
        </p:nvPicPr>
        <p:blipFill>
          <a:blip r:embed="rId2"/>
          <a:stretch>
            <a:fillRect/>
          </a:stretch>
        </p:blipFill>
        <p:spPr>
          <a:xfrm>
            <a:off x="521590" y="1549829"/>
            <a:ext cx="8144359" cy="372867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0690" y="73729"/>
            <a:ext cx="8078524" cy="1524000"/>
          </a:xfrm>
        </p:spPr>
        <p:style>
          <a:lnRef idx="0">
            <a:schemeClr val="accent6"/>
          </a:lnRef>
          <a:fillRef idx="3">
            <a:schemeClr val="accent6"/>
          </a:fillRef>
          <a:effectRef idx="3">
            <a:schemeClr val="accent6"/>
          </a:effectRef>
          <a:fontRef idx="minor">
            <a:schemeClr val="lt1"/>
          </a:fontRef>
        </p:style>
        <p:txBody>
          <a:bodyPr/>
          <a:lstStyle/>
          <a:p>
            <a:pPr algn="ctr"/>
            <a:r>
              <a:rPr lang="en-IN" dirty="0" smtClean="0"/>
              <a:t>Sales by state</a:t>
            </a:r>
            <a:endParaRPr lang="en-IN" dirty="0"/>
          </a:p>
        </p:txBody>
      </p:sp>
      <p:sp>
        <p:nvSpPr>
          <p:cNvPr id="11" name="TextBox 10"/>
          <p:cNvSpPr txBox="1"/>
          <p:nvPr/>
        </p:nvSpPr>
        <p:spPr>
          <a:xfrm>
            <a:off x="69741" y="5418237"/>
            <a:ext cx="9027763" cy="923330"/>
          </a:xfrm>
          <a:prstGeom prst="rect">
            <a:avLst/>
          </a:prstGeom>
          <a:noFill/>
        </p:spPr>
        <p:txBody>
          <a:bodyPr wrap="square" rtlCol="0">
            <a:spAutoFit/>
          </a:bodyPr>
          <a:lstStyle/>
          <a:p>
            <a:r>
              <a:rPr lang="en-IN" dirty="0" smtClean="0"/>
              <a:t>INSIGHTS:</a:t>
            </a:r>
          </a:p>
          <a:p>
            <a:pPr marL="285750" indent="-285750">
              <a:buFont typeface="Arial" panose="020B0604020202020204" pitchFamily="34" charset="0"/>
              <a:buChar char="•"/>
            </a:pPr>
            <a:r>
              <a:rPr lang="en-US" dirty="0"/>
              <a:t>Maharashtra is the dominant sales region with $102,498 in sales, vastly outperforming the next closest state, Madhya Pradesh (87,463</a:t>
            </a:r>
            <a:r>
              <a:rPr lang="en-US" dirty="0" smtClean="0"/>
              <a:t>).</a:t>
            </a:r>
          </a:p>
        </p:txBody>
      </p:sp>
      <p:pic>
        <p:nvPicPr>
          <p:cNvPr id="21" name="Content Placeholder 20"/>
          <p:cNvPicPr>
            <a:picLocks noGrp="1" noChangeAspect="1"/>
          </p:cNvPicPr>
          <p:nvPr>
            <p:ph idx="1"/>
          </p:nvPr>
        </p:nvPicPr>
        <p:blipFill>
          <a:blip r:embed="rId2"/>
          <a:stretch>
            <a:fillRect/>
          </a:stretch>
        </p:blipFill>
        <p:spPr>
          <a:xfrm>
            <a:off x="540690" y="1666875"/>
            <a:ext cx="8078524" cy="3767138"/>
          </a:xfrm>
          <a:prstGeom prst="rect">
            <a:avLst/>
          </a:prstGeom>
        </p:spPr>
      </p:pic>
    </p:spTree>
    <p:extLst>
      <p:ext uri="{BB962C8B-B14F-4D97-AF65-F5344CB8AC3E}">
        <p14:creationId xmlns:p14="http://schemas.microsoft.com/office/powerpoint/2010/main" val="6897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86" y="148526"/>
            <a:ext cx="7981628" cy="1524000"/>
          </a:xfr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pPr algn="ctr"/>
            <a:r>
              <a:rPr lang="en-IN" dirty="0" smtClean="0"/>
              <a:t>Quantity by category</a:t>
            </a:r>
            <a:endParaRPr lang="en-IN" dirty="0"/>
          </a:p>
        </p:txBody>
      </p:sp>
      <p:pic>
        <p:nvPicPr>
          <p:cNvPr id="4" name="Content Placeholder 3"/>
          <p:cNvPicPr>
            <a:picLocks noGrp="1" noChangeAspect="1"/>
          </p:cNvPicPr>
          <p:nvPr>
            <p:ph idx="1"/>
          </p:nvPr>
        </p:nvPicPr>
        <p:blipFill>
          <a:blip r:embed="rId2"/>
          <a:stretch>
            <a:fillRect/>
          </a:stretch>
        </p:blipFill>
        <p:spPr>
          <a:xfrm>
            <a:off x="581187" y="1741596"/>
            <a:ext cx="7981628" cy="3853293"/>
          </a:xfrm>
          <a:prstGeom prst="rect">
            <a:avLst/>
          </a:prstGeom>
        </p:spPr>
      </p:pic>
      <p:sp>
        <p:nvSpPr>
          <p:cNvPr id="5" name="TextBox 4"/>
          <p:cNvSpPr txBox="1"/>
          <p:nvPr/>
        </p:nvSpPr>
        <p:spPr>
          <a:xfrm>
            <a:off x="581186" y="5678785"/>
            <a:ext cx="8066867" cy="1200329"/>
          </a:xfrm>
          <a:prstGeom prst="rect">
            <a:avLst/>
          </a:prstGeom>
          <a:noFill/>
        </p:spPr>
        <p:txBody>
          <a:bodyPr wrap="square" rtlCol="0">
            <a:spAutoFit/>
          </a:bodyPr>
          <a:lstStyle/>
          <a:p>
            <a:r>
              <a:rPr lang="en-US" dirty="0" smtClean="0"/>
              <a:t>INSIGHTS:</a:t>
            </a:r>
          </a:p>
          <a:p>
            <a:pPr marL="285750" indent="-285750">
              <a:buFont typeface="Arial" panose="020B0604020202020204" pitchFamily="34" charset="0"/>
              <a:buChar char="•"/>
            </a:pPr>
            <a:r>
              <a:rPr lang="en-US" dirty="0" smtClean="0"/>
              <a:t>Clothing </a:t>
            </a:r>
            <a:r>
              <a:rPr lang="en-US" dirty="0"/>
              <a:t>dominates the sales volume, accounting for the largest share at 62.62% (4K units</a:t>
            </a:r>
            <a:r>
              <a:rPr lang="en-US" dirty="0" smtClean="0"/>
              <a:t>).</a:t>
            </a:r>
          </a:p>
          <a:p>
            <a:pPr marL="285750" indent="-285750">
              <a:buFont typeface="Arial" panose="020B0604020202020204" pitchFamily="34" charset="0"/>
              <a:buChar char="•"/>
            </a:pPr>
            <a:r>
              <a:rPr lang="en-US" dirty="0" smtClean="0"/>
              <a:t>Electronics </a:t>
            </a:r>
            <a:r>
              <a:rPr lang="en-US" dirty="0"/>
              <a:t>(20.55%) and Furniture (16.83%) make up the remainder.</a:t>
            </a:r>
            <a:endParaRPr lang="en-IN" dirty="0"/>
          </a:p>
        </p:txBody>
      </p:sp>
    </p:spTree>
    <p:extLst>
      <p:ext uri="{BB962C8B-B14F-4D97-AF65-F5344CB8AC3E}">
        <p14:creationId xmlns:p14="http://schemas.microsoft.com/office/powerpoint/2010/main" val="2763276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939" y="102031"/>
            <a:ext cx="8012624" cy="1524000"/>
          </a:xfr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r>
              <a:rPr lang="en-IN" dirty="0" smtClean="0"/>
              <a:t>QUANTITY BY PAYMENT MODE DISTRIBUTION</a:t>
            </a:r>
            <a:endParaRPr lang="en-IN" dirty="0"/>
          </a:p>
        </p:txBody>
      </p:sp>
      <p:pic>
        <p:nvPicPr>
          <p:cNvPr id="4" name="Content Placeholder 3"/>
          <p:cNvPicPr>
            <a:picLocks noGrp="1" noChangeAspect="1"/>
          </p:cNvPicPr>
          <p:nvPr>
            <p:ph idx="1"/>
          </p:nvPr>
        </p:nvPicPr>
        <p:blipFill>
          <a:blip r:embed="rId2"/>
          <a:stretch>
            <a:fillRect/>
          </a:stretch>
        </p:blipFill>
        <p:spPr>
          <a:xfrm>
            <a:off x="557939" y="1753728"/>
            <a:ext cx="8012624" cy="3767138"/>
          </a:xfrm>
          <a:prstGeom prst="rect">
            <a:avLst/>
          </a:prstGeom>
        </p:spPr>
      </p:pic>
      <p:sp>
        <p:nvSpPr>
          <p:cNvPr id="5" name="TextBox 4"/>
          <p:cNvSpPr txBox="1"/>
          <p:nvPr/>
        </p:nvSpPr>
        <p:spPr>
          <a:xfrm>
            <a:off x="294467" y="5624746"/>
            <a:ext cx="8562813" cy="1200329"/>
          </a:xfrm>
          <a:prstGeom prst="rect">
            <a:avLst/>
          </a:prstGeom>
          <a:noFill/>
        </p:spPr>
        <p:txBody>
          <a:bodyPr wrap="square" rtlCol="0">
            <a:spAutoFit/>
          </a:bodyPr>
          <a:lstStyle/>
          <a:p>
            <a:r>
              <a:rPr lang="en-IN" dirty="0" smtClean="0"/>
              <a:t>INSIGHTS:</a:t>
            </a:r>
          </a:p>
          <a:p>
            <a:pPr marL="285750" indent="-285750">
              <a:buFont typeface="Arial" panose="020B0604020202020204" pitchFamily="34" charset="0"/>
              <a:buChar char="•"/>
            </a:pPr>
            <a:r>
              <a:rPr lang="en-US" dirty="0"/>
              <a:t>COD (Cash on Delivery) is the most popular payment method, representing 43.74% (2K units) of the quantity sold</a:t>
            </a:r>
            <a:r>
              <a:rPr lang="en-US" dirty="0" smtClean="0"/>
              <a:t>.</a:t>
            </a:r>
          </a:p>
          <a:p>
            <a:pPr marL="285750" indent="-285750">
              <a:buFont typeface="Arial" panose="020B0604020202020204" pitchFamily="34" charset="0"/>
              <a:buChar char="•"/>
            </a:pPr>
            <a:r>
              <a:rPr lang="en-US" dirty="0" smtClean="0"/>
              <a:t>UPI </a:t>
            </a:r>
            <a:r>
              <a:rPr lang="en-US" dirty="0"/>
              <a:t>(20.61%) is the second most used, followed by Debit Card (13.2%).</a:t>
            </a:r>
            <a:endParaRPr lang="en-IN" dirty="0"/>
          </a:p>
        </p:txBody>
      </p:sp>
    </p:spTree>
    <p:extLst>
      <p:ext uri="{BB962C8B-B14F-4D97-AF65-F5344CB8AC3E}">
        <p14:creationId xmlns:p14="http://schemas.microsoft.com/office/powerpoint/2010/main" val="2053849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193" y="195021"/>
            <a:ext cx="8097865" cy="1524000"/>
          </a:xfrm>
        </p:spPr>
        <p:style>
          <a:lnRef idx="0">
            <a:scrgbClr r="0" g="0" b="0"/>
          </a:lnRef>
          <a:fillRef idx="1002">
            <a:schemeClr val="dk2"/>
          </a:fillRef>
          <a:effectRef idx="0">
            <a:scrgbClr r="0" g="0" b="0"/>
          </a:effectRef>
          <a:fontRef idx="major"/>
        </p:style>
        <p:txBody>
          <a:bodyPr/>
          <a:lstStyle/>
          <a:p>
            <a:pPr algn="ctr"/>
            <a:r>
              <a:rPr lang="en-IN" dirty="0" smtClean="0"/>
              <a:t>Sales by CUSTOMER</a:t>
            </a:r>
            <a:endParaRPr lang="en-IN" dirty="0"/>
          </a:p>
        </p:txBody>
      </p:sp>
      <p:sp>
        <p:nvSpPr>
          <p:cNvPr id="6" name="TextBox 5"/>
          <p:cNvSpPr txBox="1"/>
          <p:nvPr/>
        </p:nvSpPr>
        <p:spPr>
          <a:xfrm>
            <a:off x="519194" y="5680128"/>
            <a:ext cx="8097864" cy="646331"/>
          </a:xfrm>
          <a:prstGeom prst="rect">
            <a:avLst/>
          </a:prstGeom>
          <a:noFill/>
        </p:spPr>
        <p:txBody>
          <a:bodyPr wrap="square" rtlCol="0">
            <a:spAutoFit/>
          </a:bodyPr>
          <a:lstStyle/>
          <a:p>
            <a:r>
              <a:rPr lang="en-IN" dirty="0" smtClean="0"/>
              <a:t>INSIGHTS:</a:t>
            </a:r>
          </a:p>
          <a:p>
            <a:r>
              <a:rPr lang="en-US" b="1" dirty="0" err="1" smtClean="0"/>
              <a:t>Harivansh</a:t>
            </a:r>
            <a:r>
              <a:rPr lang="en-US" b="1" dirty="0" smtClean="0"/>
              <a:t> </a:t>
            </a:r>
            <a:r>
              <a:rPr lang="en-US" b="1" dirty="0"/>
              <a:t>(9,903)</a:t>
            </a:r>
            <a:r>
              <a:rPr lang="en-US" dirty="0"/>
              <a:t> and </a:t>
            </a:r>
            <a:r>
              <a:rPr lang="en-US" b="1" dirty="0" err="1"/>
              <a:t>Madhav</a:t>
            </a:r>
            <a:r>
              <a:rPr lang="en-US" b="1" dirty="0"/>
              <a:t> (9,365)</a:t>
            </a:r>
            <a:r>
              <a:rPr lang="en-US" dirty="0"/>
              <a:t> are the top-spending customers.</a:t>
            </a:r>
            <a:endParaRPr lang="en-IN" dirty="0"/>
          </a:p>
        </p:txBody>
      </p:sp>
      <p:pic>
        <p:nvPicPr>
          <p:cNvPr id="9" name="Picture 8"/>
          <p:cNvPicPr>
            <a:picLocks noChangeAspect="1"/>
          </p:cNvPicPr>
          <p:nvPr/>
        </p:nvPicPr>
        <p:blipFill>
          <a:blip r:embed="rId2"/>
          <a:stretch>
            <a:fillRect/>
          </a:stretch>
        </p:blipFill>
        <p:spPr>
          <a:xfrm>
            <a:off x="519194" y="1838940"/>
            <a:ext cx="8097864" cy="3607703"/>
          </a:xfrm>
          <a:prstGeom prst="rect">
            <a:avLst/>
          </a:prstGeom>
        </p:spPr>
      </p:pic>
    </p:spTree>
    <p:extLst>
      <p:ext uri="{BB962C8B-B14F-4D97-AF65-F5344CB8AC3E}">
        <p14:creationId xmlns:p14="http://schemas.microsoft.com/office/powerpoint/2010/main" val="3645666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949" y="94281"/>
            <a:ext cx="8214101" cy="1524000"/>
          </a:xfrm>
        </p:spPr>
        <p:style>
          <a:lnRef idx="1">
            <a:schemeClr val="accent5"/>
          </a:lnRef>
          <a:fillRef idx="3">
            <a:schemeClr val="accent5"/>
          </a:fillRef>
          <a:effectRef idx="2">
            <a:schemeClr val="accent5"/>
          </a:effectRef>
          <a:fontRef idx="minor">
            <a:schemeClr val="lt1"/>
          </a:fontRef>
        </p:style>
        <p:txBody>
          <a:bodyPr/>
          <a:lstStyle/>
          <a:p>
            <a:pPr algn="ctr"/>
            <a:r>
              <a:rPr lang="en-IN" dirty="0" smtClean="0"/>
              <a:t>PROFIT BY SUB-CATEGORY</a:t>
            </a:r>
            <a:endParaRPr lang="en-IN" dirty="0"/>
          </a:p>
        </p:txBody>
      </p:sp>
      <p:pic>
        <p:nvPicPr>
          <p:cNvPr id="4" name="Content Placeholder 3"/>
          <p:cNvPicPr>
            <a:picLocks noGrp="1" noChangeAspect="1"/>
          </p:cNvPicPr>
          <p:nvPr>
            <p:ph idx="1"/>
          </p:nvPr>
        </p:nvPicPr>
        <p:blipFill>
          <a:blip r:embed="rId2"/>
          <a:stretch>
            <a:fillRect/>
          </a:stretch>
        </p:blipFill>
        <p:spPr>
          <a:xfrm>
            <a:off x="464950" y="1727200"/>
            <a:ext cx="8214100" cy="3611966"/>
          </a:xfrm>
          <a:prstGeom prst="rect">
            <a:avLst/>
          </a:prstGeom>
        </p:spPr>
      </p:pic>
      <p:sp>
        <p:nvSpPr>
          <p:cNvPr id="5" name="TextBox 4"/>
          <p:cNvSpPr txBox="1"/>
          <p:nvPr/>
        </p:nvSpPr>
        <p:spPr>
          <a:xfrm>
            <a:off x="240224" y="5448085"/>
            <a:ext cx="8702298" cy="1477328"/>
          </a:xfrm>
          <a:prstGeom prst="rect">
            <a:avLst/>
          </a:prstGeom>
          <a:noFill/>
        </p:spPr>
        <p:txBody>
          <a:bodyPr wrap="square" rtlCol="0">
            <a:spAutoFit/>
          </a:bodyPr>
          <a:lstStyle/>
          <a:p>
            <a:r>
              <a:rPr lang="en-IN" dirty="0" smtClean="0"/>
              <a:t>INSIGHTS:</a:t>
            </a:r>
          </a:p>
          <a:p>
            <a:pPr marL="285750" indent="-285750">
              <a:buFont typeface="Arial" panose="020B0604020202020204" pitchFamily="34" charset="0"/>
              <a:buChar char="•"/>
            </a:pPr>
            <a:r>
              <a:rPr lang="en-US" b="1" dirty="0"/>
              <a:t>Printers ($8.6K)</a:t>
            </a:r>
            <a:r>
              <a:rPr lang="en-US" dirty="0"/>
              <a:t> and </a:t>
            </a:r>
            <a:r>
              <a:rPr lang="en-US" b="1" dirty="0"/>
              <a:t>Bookcases ($6.5K)</a:t>
            </a:r>
            <a:r>
              <a:rPr lang="en-US" dirty="0"/>
              <a:t> are the highest-profit sub-categories</a:t>
            </a:r>
            <a:r>
              <a:rPr lang="en-US" dirty="0" smtClean="0"/>
              <a:t>.</a:t>
            </a:r>
          </a:p>
          <a:p>
            <a:pPr marL="285750" indent="-285750">
              <a:buFont typeface="Arial" panose="020B0604020202020204" pitchFamily="34" charset="0"/>
              <a:buChar char="•"/>
            </a:pPr>
            <a:r>
              <a:rPr lang="en-IN" b="1" dirty="0"/>
              <a:t>Furnishings (-$0.8K)</a:t>
            </a:r>
            <a:r>
              <a:rPr lang="en-IN" dirty="0"/>
              <a:t>, </a:t>
            </a:r>
            <a:r>
              <a:rPr lang="en-IN" b="1" dirty="0"/>
              <a:t>Electronic Games (-$0.6K)</a:t>
            </a:r>
            <a:r>
              <a:rPr lang="en-IN" dirty="0"/>
              <a:t>, </a:t>
            </a:r>
            <a:r>
              <a:rPr lang="en-IN" b="1" dirty="0" err="1"/>
              <a:t>Kurti</a:t>
            </a:r>
            <a:r>
              <a:rPr lang="en-IN" b="1" dirty="0"/>
              <a:t> (-$0.4K)</a:t>
            </a:r>
            <a:r>
              <a:rPr lang="en-IN" dirty="0"/>
              <a:t>, </a:t>
            </a:r>
            <a:r>
              <a:rPr lang="en-IN" b="1" dirty="0"/>
              <a:t>Skirt (-$0.3K)</a:t>
            </a:r>
            <a:r>
              <a:rPr lang="en-IN" dirty="0"/>
              <a:t>, and </a:t>
            </a:r>
            <a:r>
              <a:rPr lang="en-IN" b="1" dirty="0"/>
              <a:t>Leggings (-$0.1K)</a:t>
            </a:r>
            <a:r>
              <a:rPr lang="en-IN" dirty="0"/>
              <a:t> are unprofitable.</a:t>
            </a:r>
          </a:p>
        </p:txBody>
      </p:sp>
    </p:spTree>
    <p:extLst>
      <p:ext uri="{BB962C8B-B14F-4D97-AF65-F5344CB8AC3E}">
        <p14:creationId xmlns:p14="http://schemas.microsoft.com/office/powerpoint/2010/main" val="89904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447" y="117529"/>
            <a:ext cx="8136611" cy="1524000"/>
          </a:xfrm>
        </p:spPr>
        <p:style>
          <a:lnRef idx="1">
            <a:schemeClr val="accent1"/>
          </a:lnRef>
          <a:fillRef idx="2">
            <a:schemeClr val="accent1"/>
          </a:fillRef>
          <a:effectRef idx="1">
            <a:schemeClr val="accent1"/>
          </a:effectRef>
          <a:fontRef idx="minor">
            <a:schemeClr val="dk1"/>
          </a:fontRef>
        </p:style>
        <p:txBody>
          <a:bodyPr/>
          <a:lstStyle/>
          <a:p>
            <a:r>
              <a:rPr lang="en-IN" dirty="0" smtClean="0"/>
              <a:t>Business insights and key FINDINGS</a:t>
            </a:r>
            <a:endParaRPr lang="en-IN" dirty="0"/>
          </a:p>
        </p:txBody>
      </p:sp>
      <p:sp>
        <p:nvSpPr>
          <p:cNvPr id="3" name="Content Placeholder 2"/>
          <p:cNvSpPr>
            <a:spLocks noGrp="1"/>
          </p:cNvSpPr>
          <p:nvPr>
            <p:ph idx="1"/>
          </p:nvPr>
        </p:nvSpPr>
        <p:spPr>
          <a:xfrm>
            <a:off x="480448" y="2107770"/>
            <a:ext cx="8136610" cy="4308528"/>
          </a:xfrm>
        </p:spPr>
        <p:txBody>
          <a:bodyPr>
            <a:normAutofit fontScale="70000" lnSpcReduction="20000"/>
          </a:bodyPr>
          <a:lstStyle/>
          <a:p>
            <a:pPr marL="0" indent="0">
              <a:buNone/>
            </a:pPr>
            <a:endParaRPr lang="en-IN" dirty="0" smtClean="0">
              <a:solidFill>
                <a:schemeClr val="tx1"/>
              </a:solidFill>
            </a:endParaRPr>
          </a:p>
          <a:p>
            <a:pPr marL="0" indent="0">
              <a:buNone/>
            </a:pPr>
            <a:r>
              <a:rPr lang="en-IN" dirty="0" smtClean="0">
                <a:solidFill>
                  <a:schemeClr val="tx1"/>
                </a:solidFill>
              </a:rPr>
              <a:t>Business Insights :</a:t>
            </a:r>
          </a:p>
          <a:p>
            <a:pPr marL="0" indent="0">
              <a:buNone/>
            </a:pPr>
            <a:r>
              <a:rPr lang="en-IN" u="sng" dirty="0" smtClean="0">
                <a:solidFill>
                  <a:schemeClr val="tx1"/>
                </a:solidFill>
              </a:rPr>
              <a:t>Profit by Month</a:t>
            </a:r>
            <a:r>
              <a:rPr lang="en-IN" dirty="0" smtClean="0">
                <a:solidFill>
                  <a:schemeClr val="tx1"/>
                </a:solidFill>
              </a:rPr>
              <a:t> :</a:t>
            </a:r>
          </a:p>
          <a:p>
            <a:pPr>
              <a:buFont typeface="Arial" panose="020B0604020202020204" pitchFamily="34" charset="0"/>
              <a:buChar char="•"/>
            </a:pPr>
            <a:r>
              <a:rPr lang="en-US" dirty="0">
                <a:solidFill>
                  <a:schemeClr val="tx1"/>
                </a:solidFill>
              </a:rPr>
              <a:t>January (9.7K), February (8.5K), and November (10.3K) were the most profitable months</a:t>
            </a:r>
            <a:r>
              <a:rPr lang="en-US" dirty="0" smtClean="0">
                <a:solidFill>
                  <a:schemeClr val="tx1"/>
                </a:solidFill>
              </a:rPr>
              <a:t>.</a:t>
            </a:r>
          </a:p>
          <a:p>
            <a:pPr>
              <a:buFont typeface="Arial" panose="020B0604020202020204" pitchFamily="34" charset="0"/>
              <a:buChar char="•"/>
            </a:pPr>
            <a:r>
              <a:rPr lang="en-US" dirty="0">
                <a:solidFill>
                  <a:schemeClr val="tx1"/>
                </a:solidFill>
              </a:rPr>
              <a:t>The business incurred substantial losses in </a:t>
            </a:r>
            <a:r>
              <a:rPr lang="en-US" b="1" dirty="0">
                <a:solidFill>
                  <a:schemeClr val="tx1"/>
                </a:solidFill>
              </a:rPr>
              <a:t>May (-3.7K)</a:t>
            </a:r>
            <a:r>
              <a:rPr lang="en-US" dirty="0">
                <a:solidFill>
                  <a:schemeClr val="tx1"/>
                </a:solidFill>
              </a:rPr>
              <a:t>, </a:t>
            </a:r>
            <a:r>
              <a:rPr lang="en-US" b="1" dirty="0">
                <a:solidFill>
                  <a:schemeClr val="tx1"/>
                </a:solidFill>
              </a:rPr>
              <a:t>July (-2.1K)</a:t>
            </a:r>
            <a:r>
              <a:rPr lang="en-US" dirty="0">
                <a:solidFill>
                  <a:schemeClr val="tx1"/>
                </a:solidFill>
              </a:rPr>
              <a:t>, </a:t>
            </a:r>
            <a:r>
              <a:rPr lang="en-US" b="1" dirty="0">
                <a:solidFill>
                  <a:schemeClr val="tx1"/>
                </a:solidFill>
              </a:rPr>
              <a:t>September (-1.4K)</a:t>
            </a:r>
            <a:r>
              <a:rPr lang="en-US" dirty="0">
                <a:solidFill>
                  <a:schemeClr val="tx1"/>
                </a:solidFill>
              </a:rPr>
              <a:t>, and </a:t>
            </a:r>
            <a:r>
              <a:rPr lang="en-US" b="1" dirty="0">
                <a:solidFill>
                  <a:schemeClr val="tx1"/>
                </a:solidFill>
              </a:rPr>
              <a:t>December (-1.6K)</a:t>
            </a:r>
            <a:r>
              <a:rPr lang="en-US" dirty="0">
                <a:solidFill>
                  <a:schemeClr val="tx1"/>
                </a:solidFill>
              </a:rPr>
              <a:t>. This severe inconsistency in the middle and end of the year requires urgent investigation into operational costs, discounts, or inventory issues during these periods</a:t>
            </a:r>
            <a:r>
              <a:rPr lang="en-US" dirty="0" smtClean="0">
                <a:solidFill>
                  <a:schemeClr val="tx1"/>
                </a:solidFill>
              </a:rPr>
              <a:t>.</a:t>
            </a:r>
          </a:p>
          <a:p>
            <a:pPr marL="0" indent="0">
              <a:buNone/>
            </a:pPr>
            <a:endParaRPr lang="en-US" dirty="0">
              <a:solidFill>
                <a:schemeClr val="tx1"/>
              </a:solidFill>
            </a:endParaRPr>
          </a:p>
          <a:p>
            <a:pPr marL="0" indent="0">
              <a:buNone/>
            </a:pPr>
            <a:r>
              <a:rPr lang="en-US" u="sng" dirty="0" smtClean="0">
                <a:solidFill>
                  <a:schemeClr val="tx1"/>
                </a:solidFill>
              </a:rPr>
              <a:t>Sales by State</a:t>
            </a:r>
            <a:r>
              <a:rPr lang="en-US" dirty="0" smtClean="0">
                <a:solidFill>
                  <a:schemeClr val="tx1"/>
                </a:solidFill>
              </a:rPr>
              <a:t> :</a:t>
            </a:r>
          </a:p>
          <a:p>
            <a:pPr>
              <a:buFont typeface="Arial" panose="020B0604020202020204" pitchFamily="34" charset="0"/>
              <a:buChar char="•"/>
            </a:pPr>
            <a:r>
              <a:rPr lang="en-US" b="1" dirty="0">
                <a:solidFill>
                  <a:schemeClr val="tx1"/>
                </a:solidFill>
              </a:rPr>
              <a:t>Maharashtra</a:t>
            </a:r>
            <a:r>
              <a:rPr lang="en-US" dirty="0">
                <a:solidFill>
                  <a:schemeClr val="tx1"/>
                </a:solidFill>
              </a:rPr>
              <a:t> is the dominant sales region with </a:t>
            </a:r>
            <a:r>
              <a:rPr lang="en-US" b="1" dirty="0">
                <a:solidFill>
                  <a:schemeClr val="tx1"/>
                </a:solidFill>
              </a:rPr>
              <a:t>$102,498</a:t>
            </a:r>
            <a:r>
              <a:rPr lang="en-US" dirty="0">
                <a:solidFill>
                  <a:schemeClr val="tx1"/>
                </a:solidFill>
              </a:rPr>
              <a:t> in sales, vastly outperforming the next closest state, </a:t>
            </a:r>
            <a:r>
              <a:rPr lang="en-US" b="1" dirty="0">
                <a:solidFill>
                  <a:schemeClr val="tx1"/>
                </a:solidFill>
              </a:rPr>
              <a:t>Madhya Pradesh (87,463</a:t>
            </a:r>
            <a:r>
              <a:rPr lang="en-US" b="1" dirty="0" smtClean="0">
                <a:solidFill>
                  <a:schemeClr val="tx1"/>
                </a:solidFill>
              </a:rPr>
              <a:t>)</a:t>
            </a:r>
            <a:r>
              <a:rPr lang="en-US" dirty="0" smtClean="0">
                <a:solidFill>
                  <a:schemeClr val="tx1"/>
                </a:solidFill>
              </a:rPr>
              <a:t>.</a:t>
            </a:r>
          </a:p>
          <a:p>
            <a:pPr marL="0" indent="0">
              <a:buNone/>
            </a:pPr>
            <a:endParaRPr lang="en-US" dirty="0" smtClean="0">
              <a:solidFill>
                <a:schemeClr val="tx1"/>
              </a:solidFill>
            </a:endParaRPr>
          </a:p>
          <a:p>
            <a:pPr marL="0" indent="0">
              <a:buNone/>
            </a:pPr>
            <a:r>
              <a:rPr lang="en-US" u="sng" dirty="0" smtClean="0">
                <a:solidFill>
                  <a:schemeClr val="tx1"/>
                </a:solidFill>
              </a:rPr>
              <a:t>Quantity by Category</a:t>
            </a:r>
            <a:r>
              <a:rPr lang="en-US" dirty="0" smtClean="0">
                <a:solidFill>
                  <a:schemeClr val="tx1"/>
                </a:solidFill>
              </a:rPr>
              <a:t> :</a:t>
            </a:r>
          </a:p>
          <a:p>
            <a:pPr marL="0" indent="0">
              <a:buNone/>
            </a:pPr>
            <a:r>
              <a:rPr lang="en-US" dirty="0">
                <a:solidFill>
                  <a:schemeClr val="tx1"/>
                </a:solidFill>
              </a:rPr>
              <a:t>Clothing dominates the quantity sold, accounting for 62.62% (4K units). This confirms Clothing is the highest-volume category, but its high volume doesn't translate to the highest sub-category profit (Printers/Bookcases are better</a:t>
            </a:r>
            <a:r>
              <a:rPr lang="en-US" dirty="0" smtClean="0">
                <a:solidFill>
                  <a:schemeClr val="tx1"/>
                </a:solidFill>
              </a:rPr>
              <a:t>).</a:t>
            </a:r>
            <a:endParaRPr lang="en-US" u="sng" dirty="0">
              <a:solidFill>
                <a:schemeClr val="tx1"/>
              </a:solidFill>
            </a:endParaRPr>
          </a:p>
          <a:p>
            <a:pPr marL="0" indent="0">
              <a:buNone/>
            </a:pPr>
            <a:endParaRPr lang="en-IN" u="sng" dirty="0" smtClean="0">
              <a:solidFill>
                <a:schemeClr val="tx1"/>
              </a:solidFill>
            </a:endParaRPr>
          </a:p>
          <a:p>
            <a:pPr marL="0" indent="0">
              <a:buNone/>
            </a:pPr>
            <a:endParaRPr lang="en-IN" dirty="0">
              <a:solidFill>
                <a:schemeClr val="tx1"/>
              </a:solidFill>
            </a:endParaRPr>
          </a:p>
        </p:txBody>
      </p:sp>
    </p:spTree>
    <p:extLst>
      <p:ext uri="{BB962C8B-B14F-4D97-AF65-F5344CB8AC3E}">
        <p14:creationId xmlns:p14="http://schemas.microsoft.com/office/powerpoint/2010/main" val="1474587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573" y="226017"/>
            <a:ext cx="6554867" cy="1524000"/>
          </a:xfrm>
        </p:spPr>
        <p:txBody>
          <a:bodyPr/>
          <a:lstStyle/>
          <a:p>
            <a:endParaRPr lang="en-IN" dirty="0"/>
          </a:p>
        </p:txBody>
      </p:sp>
      <p:sp>
        <p:nvSpPr>
          <p:cNvPr id="3" name="Content Placeholder 2"/>
          <p:cNvSpPr>
            <a:spLocks noGrp="1"/>
          </p:cNvSpPr>
          <p:nvPr>
            <p:ph idx="1"/>
          </p:nvPr>
        </p:nvSpPr>
        <p:spPr>
          <a:xfrm>
            <a:off x="413468" y="1943746"/>
            <a:ext cx="8301162" cy="3767670"/>
          </a:xfrm>
        </p:spPr>
        <p:txBody>
          <a:bodyPr>
            <a:normAutofit fontScale="85000" lnSpcReduction="20000"/>
          </a:bodyPr>
          <a:lstStyle/>
          <a:p>
            <a:pPr marL="0" indent="0">
              <a:buNone/>
            </a:pPr>
            <a:r>
              <a:rPr lang="en-IN" u="sng" dirty="0" smtClean="0">
                <a:solidFill>
                  <a:schemeClr val="tx1"/>
                </a:solidFill>
              </a:rPr>
              <a:t>Quantity by Payment Mode Distribution</a:t>
            </a:r>
            <a:r>
              <a:rPr lang="en-IN" dirty="0"/>
              <a:t> </a:t>
            </a:r>
            <a:r>
              <a:rPr lang="en-IN" dirty="0" smtClean="0">
                <a:solidFill>
                  <a:schemeClr val="tx1"/>
                </a:solidFill>
              </a:rPr>
              <a:t>:</a:t>
            </a:r>
          </a:p>
          <a:p>
            <a:pPr>
              <a:buFont typeface="Arial" panose="020B0604020202020204" pitchFamily="34" charset="0"/>
              <a:buChar char="•"/>
            </a:pPr>
            <a:r>
              <a:rPr lang="en-US" dirty="0">
                <a:solidFill>
                  <a:schemeClr val="tx1"/>
                </a:solidFill>
              </a:rPr>
              <a:t>COD (Cash on Delivery) is the preferred method for the majority of sales quantity at 43.74% (2K units</a:t>
            </a:r>
            <a:r>
              <a:rPr lang="en-US" dirty="0" smtClean="0">
                <a:solidFill>
                  <a:schemeClr val="tx1"/>
                </a:solidFill>
              </a:rPr>
              <a:t>).</a:t>
            </a:r>
          </a:p>
          <a:p>
            <a:pPr marL="0" indent="0">
              <a:buNone/>
            </a:pPr>
            <a:endParaRPr lang="en-US" dirty="0" smtClean="0">
              <a:solidFill>
                <a:schemeClr val="tx1"/>
              </a:solidFill>
            </a:endParaRPr>
          </a:p>
          <a:p>
            <a:pPr marL="0" indent="0">
              <a:buNone/>
            </a:pPr>
            <a:r>
              <a:rPr lang="en-IN" u="sng" dirty="0" smtClean="0">
                <a:solidFill>
                  <a:schemeClr val="tx1"/>
                </a:solidFill>
              </a:rPr>
              <a:t>Sales by Customer</a:t>
            </a:r>
            <a:r>
              <a:rPr lang="en-IN" dirty="0" smtClean="0">
                <a:solidFill>
                  <a:schemeClr val="tx1"/>
                </a:solidFill>
              </a:rPr>
              <a:t> :</a:t>
            </a:r>
          </a:p>
          <a:p>
            <a:pPr>
              <a:buFont typeface="Arial" panose="020B0604020202020204" pitchFamily="34" charset="0"/>
              <a:buChar char="•"/>
            </a:pPr>
            <a:r>
              <a:rPr lang="en-US" b="1" dirty="0" err="1" smtClean="0">
                <a:solidFill>
                  <a:schemeClr val="tx1"/>
                </a:solidFill>
              </a:rPr>
              <a:t>Harivansh</a:t>
            </a:r>
            <a:r>
              <a:rPr lang="en-US" b="1" dirty="0" smtClean="0">
                <a:solidFill>
                  <a:schemeClr val="tx1"/>
                </a:solidFill>
              </a:rPr>
              <a:t> </a:t>
            </a:r>
            <a:r>
              <a:rPr lang="en-US" b="1" dirty="0">
                <a:solidFill>
                  <a:schemeClr val="tx1"/>
                </a:solidFill>
              </a:rPr>
              <a:t>(9,903)</a:t>
            </a:r>
            <a:r>
              <a:rPr lang="en-US" dirty="0">
                <a:solidFill>
                  <a:schemeClr val="tx1"/>
                </a:solidFill>
              </a:rPr>
              <a:t> and </a:t>
            </a:r>
            <a:r>
              <a:rPr lang="en-US" b="1" dirty="0" err="1">
                <a:solidFill>
                  <a:schemeClr val="tx1"/>
                </a:solidFill>
              </a:rPr>
              <a:t>Madhav</a:t>
            </a:r>
            <a:r>
              <a:rPr lang="en-US" b="1" dirty="0">
                <a:solidFill>
                  <a:schemeClr val="tx1"/>
                </a:solidFill>
              </a:rPr>
              <a:t> (9,365)</a:t>
            </a:r>
            <a:r>
              <a:rPr lang="en-US" dirty="0">
                <a:solidFill>
                  <a:schemeClr val="tx1"/>
                </a:solidFill>
              </a:rPr>
              <a:t> are the top-spending customers</a:t>
            </a:r>
            <a:r>
              <a:rPr lang="en-US" dirty="0" smtClean="0">
                <a:solidFill>
                  <a:schemeClr val="tx1"/>
                </a:solidFill>
              </a:rPr>
              <a:t>.</a:t>
            </a:r>
          </a:p>
          <a:p>
            <a:pPr marL="0" indent="0">
              <a:buNone/>
            </a:pPr>
            <a:endParaRPr lang="en-US" dirty="0">
              <a:solidFill>
                <a:schemeClr val="tx1"/>
              </a:solidFill>
            </a:endParaRPr>
          </a:p>
          <a:p>
            <a:pPr marL="0" indent="0">
              <a:buNone/>
            </a:pPr>
            <a:r>
              <a:rPr lang="en-US" u="sng" dirty="0" smtClean="0">
                <a:solidFill>
                  <a:schemeClr val="tx1"/>
                </a:solidFill>
              </a:rPr>
              <a:t>Profit by Sub-Category</a:t>
            </a:r>
            <a:r>
              <a:rPr lang="en-US" dirty="0" smtClean="0">
                <a:solidFill>
                  <a:schemeClr val="tx1"/>
                </a:solidFill>
              </a:rPr>
              <a:t> :</a:t>
            </a:r>
          </a:p>
          <a:p>
            <a:pPr>
              <a:buFont typeface="Arial" panose="020B0604020202020204" pitchFamily="34" charset="0"/>
              <a:buChar char="•"/>
            </a:pPr>
            <a:r>
              <a:rPr lang="en-US" dirty="0">
                <a:solidFill>
                  <a:schemeClr val="tx1"/>
                </a:solidFill>
              </a:rPr>
              <a:t>A few sub-categories generate the majority of the profit: </a:t>
            </a:r>
            <a:r>
              <a:rPr lang="en-US" b="1" dirty="0">
                <a:solidFill>
                  <a:schemeClr val="tx1"/>
                </a:solidFill>
              </a:rPr>
              <a:t>Printers (8.6K)</a:t>
            </a:r>
            <a:r>
              <a:rPr lang="en-US" dirty="0">
                <a:solidFill>
                  <a:schemeClr val="tx1"/>
                </a:solidFill>
              </a:rPr>
              <a:t> and </a:t>
            </a:r>
            <a:r>
              <a:rPr lang="en-US" b="1" dirty="0">
                <a:solidFill>
                  <a:schemeClr val="tx1"/>
                </a:solidFill>
              </a:rPr>
              <a:t>Bookcases (6.5K)</a:t>
            </a:r>
            <a:r>
              <a:rPr lang="en-US" dirty="0">
                <a:solidFill>
                  <a:schemeClr val="tx1"/>
                </a:solidFill>
              </a:rPr>
              <a:t> are the undisputed leaders</a:t>
            </a:r>
            <a:r>
              <a:rPr lang="en-US" dirty="0" smtClean="0">
                <a:solidFill>
                  <a:schemeClr val="tx1"/>
                </a:solidFill>
              </a:rPr>
              <a:t>.</a:t>
            </a:r>
          </a:p>
          <a:p>
            <a:pPr>
              <a:buFont typeface="Arial" panose="020B0604020202020204" pitchFamily="34" charset="0"/>
              <a:buChar char="•"/>
            </a:pPr>
            <a:r>
              <a:rPr lang="en-US" dirty="0">
                <a:solidFill>
                  <a:schemeClr val="tx1"/>
                </a:solidFill>
              </a:rPr>
              <a:t>Five sub-categories are actively eroding profits Furnishings (−</a:t>
            </a:r>
            <a:r>
              <a:rPr lang="en-US" dirty="0" smtClean="0">
                <a:solidFill>
                  <a:schemeClr val="tx1"/>
                </a:solidFill>
              </a:rPr>
              <a:t>0.8K), Electronic </a:t>
            </a:r>
            <a:r>
              <a:rPr lang="en-US" dirty="0">
                <a:solidFill>
                  <a:schemeClr val="tx1"/>
                </a:solidFill>
              </a:rPr>
              <a:t>Games (−</a:t>
            </a:r>
            <a:r>
              <a:rPr lang="en-US" dirty="0" smtClean="0">
                <a:solidFill>
                  <a:schemeClr val="tx1"/>
                </a:solidFill>
              </a:rPr>
              <a:t>0.6K</a:t>
            </a:r>
            <a:r>
              <a:rPr lang="en-US" dirty="0">
                <a:solidFill>
                  <a:schemeClr val="tx1"/>
                </a:solidFill>
              </a:rPr>
              <a:t>)</a:t>
            </a:r>
            <a:r>
              <a:rPr lang="en-US" dirty="0" smtClean="0">
                <a:solidFill>
                  <a:schemeClr val="tx1"/>
                </a:solidFill>
              </a:rPr>
              <a:t>, </a:t>
            </a:r>
            <a:r>
              <a:rPr lang="en-US" dirty="0" err="1" smtClean="0">
                <a:solidFill>
                  <a:schemeClr val="tx1"/>
                </a:solidFill>
              </a:rPr>
              <a:t>Kurti</a:t>
            </a:r>
            <a:r>
              <a:rPr lang="en-US" dirty="0" smtClean="0">
                <a:solidFill>
                  <a:schemeClr val="tx1"/>
                </a:solidFill>
              </a:rPr>
              <a:t> </a:t>
            </a:r>
            <a:r>
              <a:rPr lang="en-US" dirty="0">
                <a:solidFill>
                  <a:schemeClr val="tx1"/>
                </a:solidFill>
              </a:rPr>
              <a:t>(−0.4K</a:t>
            </a:r>
            <a:r>
              <a:rPr lang="en-US" dirty="0" smtClean="0">
                <a:solidFill>
                  <a:schemeClr val="tx1"/>
                </a:solidFill>
              </a:rPr>
              <a:t>), Skirt </a:t>
            </a:r>
            <a:r>
              <a:rPr lang="en-US" dirty="0">
                <a:solidFill>
                  <a:schemeClr val="tx1"/>
                </a:solidFill>
              </a:rPr>
              <a:t>(−0.3K</a:t>
            </a:r>
            <a:r>
              <a:rPr lang="en-US" dirty="0" smtClean="0">
                <a:solidFill>
                  <a:schemeClr val="tx1"/>
                </a:solidFill>
              </a:rPr>
              <a:t>), Leggings </a:t>
            </a:r>
            <a:r>
              <a:rPr lang="en-US" dirty="0">
                <a:solidFill>
                  <a:schemeClr val="tx1"/>
                </a:solidFill>
              </a:rPr>
              <a:t>(−0.1K)</a:t>
            </a:r>
            <a:endParaRPr lang="en-IN" dirty="0" smtClean="0">
              <a:solidFill>
                <a:schemeClr val="tx1"/>
              </a:solidFill>
            </a:endParaRPr>
          </a:p>
          <a:p>
            <a:pPr marL="0" indent="0">
              <a:buNone/>
            </a:pPr>
            <a:endParaRPr lang="en-IN" u="sng" dirty="0">
              <a:solidFill>
                <a:schemeClr val="tx1"/>
              </a:solidFill>
            </a:endParaRPr>
          </a:p>
        </p:txBody>
      </p:sp>
    </p:spTree>
    <p:extLst>
      <p:ext uri="{BB962C8B-B14F-4D97-AF65-F5344CB8AC3E}">
        <p14:creationId xmlns:p14="http://schemas.microsoft.com/office/powerpoint/2010/main" val="3438843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0565" y="133027"/>
            <a:ext cx="6554867" cy="1524000"/>
          </a:xfrm>
        </p:spPr>
        <p:txBody>
          <a:bodyPr/>
          <a:lstStyle/>
          <a:p>
            <a:pPr algn="ctr"/>
            <a:r>
              <a:rPr lang="en-IN" dirty="0" smtClean="0"/>
              <a:t>KEY FINDINGS</a:t>
            </a:r>
            <a:endParaRPr lang="en-IN" dirty="0"/>
          </a:p>
        </p:txBody>
      </p:sp>
      <p:sp>
        <p:nvSpPr>
          <p:cNvPr id="3" name="Content Placeholder 2"/>
          <p:cNvSpPr>
            <a:spLocks noGrp="1"/>
          </p:cNvSpPr>
          <p:nvPr>
            <p:ph idx="1"/>
          </p:nvPr>
        </p:nvSpPr>
        <p:spPr>
          <a:xfrm>
            <a:off x="449451" y="1983783"/>
            <a:ext cx="8214101" cy="4201122"/>
          </a:xfrm>
        </p:spPr>
        <p:txBody>
          <a:bodyPr>
            <a:normAutofit fontScale="77500" lnSpcReduction="20000"/>
          </a:bodyPr>
          <a:lstStyle/>
          <a:p>
            <a:r>
              <a:rPr lang="en-US" dirty="0">
                <a:solidFill>
                  <a:schemeClr val="tx1"/>
                </a:solidFill>
              </a:rPr>
              <a:t>The overall profitability is low relative to the high total sales, indicating a thin margin or significant cost/loss issues that need to be addressed to boost the total profit of $37K</a:t>
            </a:r>
            <a:r>
              <a:rPr lang="en-US" dirty="0" smtClean="0">
                <a:solidFill>
                  <a:schemeClr val="tx1"/>
                </a:solidFill>
              </a:rPr>
              <a:t>.</a:t>
            </a:r>
          </a:p>
          <a:p>
            <a:r>
              <a:rPr lang="en-US" dirty="0">
                <a:solidFill>
                  <a:schemeClr val="tx1"/>
                </a:solidFill>
              </a:rPr>
              <a:t>Profitability is highly volatile. The substantial losses in May and December—often prime shopping months—require immediate investigation into sales strategies, cost spikes, or return rates</a:t>
            </a:r>
            <a:r>
              <a:rPr lang="en-US" dirty="0" smtClean="0">
                <a:solidFill>
                  <a:schemeClr val="tx1"/>
                </a:solidFill>
              </a:rPr>
              <a:t>.</a:t>
            </a:r>
          </a:p>
          <a:p>
            <a:r>
              <a:rPr lang="en-US" dirty="0">
                <a:solidFill>
                  <a:schemeClr val="tx1"/>
                </a:solidFill>
              </a:rPr>
              <a:t>Sales efforts should prioritize key regions like Maharashtra while developing strategies to boost sales in lower-performing states like Sikkim (5,276) and Tamil Nadu (6,276</a:t>
            </a:r>
            <a:r>
              <a:rPr lang="en-US" dirty="0" smtClean="0">
                <a:solidFill>
                  <a:schemeClr val="tx1"/>
                </a:solidFill>
              </a:rPr>
              <a:t>).</a:t>
            </a:r>
          </a:p>
          <a:p>
            <a:r>
              <a:rPr lang="en-US" dirty="0">
                <a:solidFill>
                  <a:schemeClr val="tx1"/>
                </a:solidFill>
              </a:rPr>
              <a:t>The business's operational logistics are heavily geared toward, and dependent on, the high volume of the Clothing </a:t>
            </a:r>
            <a:r>
              <a:rPr lang="en-US" dirty="0" smtClean="0">
                <a:solidFill>
                  <a:schemeClr val="tx1"/>
                </a:solidFill>
              </a:rPr>
              <a:t>segment.</a:t>
            </a:r>
          </a:p>
          <a:p>
            <a:r>
              <a:rPr lang="en-US" dirty="0">
                <a:solidFill>
                  <a:schemeClr val="tx1"/>
                </a:solidFill>
              </a:rPr>
              <a:t>Heavy reliance on COD introduces higher logistical costs, greater risk of delivery failure, and delayed cash flow. </a:t>
            </a:r>
            <a:r>
              <a:rPr lang="en-US" b="1" dirty="0">
                <a:solidFill>
                  <a:schemeClr val="tx1"/>
                </a:solidFill>
              </a:rPr>
              <a:t>UPI (20.61%)</a:t>
            </a:r>
            <a:r>
              <a:rPr lang="en-US" dirty="0">
                <a:solidFill>
                  <a:schemeClr val="tx1"/>
                </a:solidFill>
              </a:rPr>
              <a:t> is the second most popular pre-paid method</a:t>
            </a:r>
            <a:r>
              <a:rPr lang="en-US" dirty="0" smtClean="0">
                <a:solidFill>
                  <a:schemeClr val="tx1"/>
                </a:solidFill>
              </a:rPr>
              <a:t>.</a:t>
            </a:r>
          </a:p>
          <a:p>
            <a:r>
              <a:rPr lang="en-US" dirty="0">
                <a:solidFill>
                  <a:schemeClr val="tx1"/>
                </a:solidFill>
              </a:rPr>
              <a:t>The business has a critical issue with loss-making products. The </a:t>
            </a:r>
            <a:r>
              <a:rPr lang="en-US" b="1" dirty="0">
                <a:solidFill>
                  <a:schemeClr val="tx1"/>
                </a:solidFill>
              </a:rPr>
              <a:t>−2.2K in combined losses</a:t>
            </a:r>
            <a:r>
              <a:rPr lang="en-US" dirty="0">
                <a:solidFill>
                  <a:schemeClr val="tx1"/>
                </a:solidFill>
              </a:rPr>
              <a:t> from these five sub-categories is directly reducing the overall 37K total profit</a:t>
            </a:r>
            <a:r>
              <a:rPr lang="en-US" dirty="0" smtClean="0">
                <a:solidFill>
                  <a:schemeClr val="tx1"/>
                </a:solidFill>
              </a:rPr>
              <a:t>.</a:t>
            </a:r>
          </a:p>
          <a:p>
            <a:endParaRPr lang="en-IN" dirty="0">
              <a:solidFill>
                <a:schemeClr val="tx1"/>
              </a:solidFill>
            </a:endParaRPr>
          </a:p>
        </p:txBody>
      </p:sp>
    </p:spTree>
    <p:extLst>
      <p:ext uri="{BB962C8B-B14F-4D97-AF65-F5344CB8AC3E}">
        <p14:creationId xmlns:p14="http://schemas.microsoft.com/office/powerpoint/2010/main" val="2319567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424" y="156274"/>
            <a:ext cx="7741403" cy="1524000"/>
          </a:xfrm>
          <a:solidFill>
            <a:schemeClr val="accent4"/>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smtClean="0"/>
              <a:t>Recommendations</a:t>
            </a:r>
            <a:endParaRPr lang="en-IN" dirty="0"/>
          </a:p>
        </p:txBody>
      </p:sp>
      <p:sp>
        <p:nvSpPr>
          <p:cNvPr id="4" name="Content Placeholder 3"/>
          <p:cNvSpPr>
            <a:spLocks noGrp="1"/>
          </p:cNvSpPr>
          <p:nvPr>
            <p:ph idx="1"/>
          </p:nvPr>
        </p:nvSpPr>
        <p:spPr>
          <a:xfrm>
            <a:off x="697425" y="2059984"/>
            <a:ext cx="7741402" cy="4488050"/>
          </a:xfrm>
        </p:spPr>
        <p:txBody>
          <a:bodyPr>
            <a:normAutofit fontScale="62500" lnSpcReduction="20000"/>
          </a:bodyPr>
          <a:lstStyle/>
          <a:p>
            <a:r>
              <a:rPr lang="en-US" dirty="0">
                <a:solidFill>
                  <a:schemeClr val="tx1"/>
                </a:solidFill>
              </a:rPr>
              <a:t>Immediately review the </a:t>
            </a:r>
            <a:r>
              <a:rPr lang="en-US" b="1" dirty="0">
                <a:solidFill>
                  <a:schemeClr val="tx1"/>
                </a:solidFill>
              </a:rPr>
              <a:t>COGS (Cost of Goods Sold)</a:t>
            </a:r>
            <a:r>
              <a:rPr lang="en-US" dirty="0">
                <a:solidFill>
                  <a:schemeClr val="tx1"/>
                </a:solidFill>
              </a:rPr>
              <a:t> and pricing strategy for </a:t>
            </a:r>
            <a:r>
              <a:rPr lang="en-US" b="1" dirty="0">
                <a:solidFill>
                  <a:schemeClr val="tx1"/>
                </a:solidFill>
              </a:rPr>
              <a:t>Furnishings, Electronic Games, </a:t>
            </a:r>
            <a:r>
              <a:rPr lang="en-US" b="1" dirty="0" err="1">
                <a:solidFill>
                  <a:schemeClr val="tx1"/>
                </a:solidFill>
              </a:rPr>
              <a:t>Kurti</a:t>
            </a:r>
            <a:r>
              <a:rPr lang="en-US" b="1" dirty="0">
                <a:solidFill>
                  <a:schemeClr val="tx1"/>
                </a:solidFill>
              </a:rPr>
              <a:t>, Skirt, and Leggings</a:t>
            </a:r>
            <a:r>
              <a:rPr lang="en-US" dirty="0" smtClean="0">
                <a:solidFill>
                  <a:schemeClr val="tx1"/>
                </a:solidFill>
              </a:rPr>
              <a:t>.</a:t>
            </a:r>
            <a:endParaRPr lang="en-IN" dirty="0">
              <a:solidFill>
                <a:schemeClr val="tx1"/>
              </a:solidFill>
            </a:endParaRPr>
          </a:p>
          <a:p>
            <a:r>
              <a:rPr lang="en-US" dirty="0">
                <a:solidFill>
                  <a:schemeClr val="tx1"/>
                </a:solidFill>
              </a:rPr>
              <a:t>Increase stock levels, marketing focus, and cross-selling efforts for </a:t>
            </a:r>
            <a:r>
              <a:rPr lang="en-US" b="1" dirty="0">
                <a:solidFill>
                  <a:schemeClr val="tx1"/>
                </a:solidFill>
              </a:rPr>
              <a:t>Printers and Bookcases</a:t>
            </a:r>
            <a:r>
              <a:rPr lang="en-US" dirty="0">
                <a:solidFill>
                  <a:schemeClr val="tx1"/>
                </a:solidFill>
              </a:rPr>
              <a:t> (e.g., offer a "Printer Cartridge Subscription" or "Bookcase Organization Bundle</a:t>
            </a:r>
            <a:r>
              <a:rPr lang="en-US" dirty="0" smtClean="0">
                <a:solidFill>
                  <a:schemeClr val="tx1"/>
                </a:solidFill>
              </a:rPr>
              <a:t>").</a:t>
            </a:r>
          </a:p>
          <a:p>
            <a:r>
              <a:rPr lang="en-US" dirty="0">
                <a:solidFill>
                  <a:schemeClr val="tx1"/>
                </a:solidFill>
              </a:rPr>
              <a:t>Launch a dedicated investigation into the operational and marketing activities during </a:t>
            </a:r>
            <a:r>
              <a:rPr lang="en-US" b="1" dirty="0">
                <a:solidFill>
                  <a:schemeClr val="tx1"/>
                </a:solidFill>
              </a:rPr>
              <a:t>May and December</a:t>
            </a:r>
            <a:r>
              <a:rPr lang="en-US" dirty="0">
                <a:solidFill>
                  <a:schemeClr val="tx1"/>
                </a:solidFill>
              </a:rPr>
              <a:t> to pinpoint the cause of negative profit. Was there excess promotional discounting or a spike in returns/logistics costs</a:t>
            </a:r>
            <a:r>
              <a:rPr lang="en-US" dirty="0" smtClean="0">
                <a:solidFill>
                  <a:schemeClr val="tx1"/>
                </a:solidFill>
              </a:rPr>
              <a:t>?</a:t>
            </a:r>
          </a:p>
          <a:p>
            <a:r>
              <a:rPr lang="en-US" dirty="0">
                <a:solidFill>
                  <a:schemeClr val="tx1"/>
                </a:solidFill>
              </a:rPr>
              <a:t>Implement a consistent minimum gross margin requirement and enforce stricter control over discretionary discounting, especially during known loss months</a:t>
            </a:r>
            <a:r>
              <a:rPr lang="en-US" dirty="0" smtClean="0">
                <a:solidFill>
                  <a:schemeClr val="tx1"/>
                </a:solidFill>
              </a:rPr>
              <a:t>.</a:t>
            </a:r>
          </a:p>
          <a:p>
            <a:r>
              <a:rPr lang="en-US" dirty="0">
                <a:solidFill>
                  <a:schemeClr val="tx1"/>
                </a:solidFill>
              </a:rPr>
              <a:t>Actively promote </a:t>
            </a:r>
            <a:r>
              <a:rPr lang="en-US" b="1" dirty="0">
                <a:solidFill>
                  <a:schemeClr val="tx1"/>
                </a:solidFill>
              </a:rPr>
              <a:t>UPI and Card Payments</a:t>
            </a:r>
            <a:r>
              <a:rPr lang="en-US" dirty="0">
                <a:solidFill>
                  <a:schemeClr val="tx1"/>
                </a:solidFill>
              </a:rPr>
              <a:t> to reduce the COD share. Offer a </a:t>
            </a:r>
            <a:r>
              <a:rPr lang="en-US" b="1" dirty="0">
                <a:solidFill>
                  <a:schemeClr val="tx1"/>
                </a:solidFill>
              </a:rPr>
              <a:t>small incentive (e.g., 2% discount or free express shipping)</a:t>
            </a:r>
            <a:r>
              <a:rPr lang="en-US" dirty="0">
                <a:solidFill>
                  <a:schemeClr val="tx1"/>
                </a:solidFill>
              </a:rPr>
              <a:t> for pre-paid orders to improve cash flow and reduce the risk of returns/refusals</a:t>
            </a:r>
            <a:r>
              <a:rPr lang="en-US" dirty="0" smtClean="0">
                <a:solidFill>
                  <a:schemeClr val="tx1"/>
                </a:solidFill>
              </a:rPr>
              <a:t>.</a:t>
            </a:r>
          </a:p>
          <a:p>
            <a:r>
              <a:rPr lang="en-US" dirty="0">
                <a:solidFill>
                  <a:schemeClr val="tx1"/>
                </a:solidFill>
              </a:rPr>
              <a:t>if the high-volume </a:t>
            </a:r>
            <a:r>
              <a:rPr lang="en-US" b="1" dirty="0">
                <a:solidFill>
                  <a:schemeClr val="tx1"/>
                </a:solidFill>
              </a:rPr>
              <a:t>Clothing (62.62%)</a:t>
            </a:r>
            <a:r>
              <a:rPr lang="en-US" dirty="0">
                <a:solidFill>
                  <a:schemeClr val="tx1"/>
                </a:solidFill>
              </a:rPr>
              <a:t> contributes to the low AOV. Develop bundles or "Complete the Look" promotions to increase the AOV within the dominant category</a:t>
            </a:r>
            <a:r>
              <a:rPr lang="en-US" dirty="0" smtClean="0">
                <a:solidFill>
                  <a:schemeClr val="tx1"/>
                </a:solidFill>
              </a:rPr>
              <a:t>.</a:t>
            </a:r>
          </a:p>
          <a:p>
            <a:r>
              <a:rPr lang="en-US" b="1" dirty="0">
                <a:solidFill>
                  <a:schemeClr val="tx1"/>
                </a:solidFill>
              </a:rPr>
              <a:t>Maintain dominance in Maharashtra</a:t>
            </a:r>
            <a:r>
              <a:rPr lang="en-US" dirty="0">
                <a:solidFill>
                  <a:schemeClr val="tx1"/>
                </a:solidFill>
              </a:rPr>
              <a:t> and </a:t>
            </a:r>
            <a:r>
              <a:rPr lang="en-US" b="1" dirty="0">
                <a:solidFill>
                  <a:schemeClr val="tx1"/>
                </a:solidFill>
              </a:rPr>
              <a:t>launch targeted, cost-effective campaigns in high-potential, lower-volume states</a:t>
            </a:r>
            <a:r>
              <a:rPr lang="en-US" dirty="0">
                <a:solidFill>
                  <a:schemeClr val="tx1"/>
                </a:solidFill>
              </a:rPr>
              <a:t> like Kerala, Karnataka, and Nagaland to diversify sales risk</a:t>
            </a:r>
            <a:r>
              <a:rPr lang="en-US" dirty="0" smtClean="0">
                <a:solidFill>
                  <a:schemeClr val="tx1"/>
                </a:solidFill>
              </a:rPr>
              <a:t>.</a:t>
            </a:r>
          </a:p>
          <a:p>
            <a:r>
              <a:rPr lang="en-US" dirty="0">
                <a:solidFill>
                  <a:schemeClr val="tx1"/>
                </a:solidFill>
              </a:rPr>
              <a:t>Create an exclusive "Gold Tier" program for top customers like </a:t>
            </a:r>
            <a:r>
              <a:rPr lang="en-US" dirty="0" err="1">
                <a:solidFill>
                  <a:schemeClr val="tx1"/>
                </a:solidFill>
              </a:rPr>
              <a:t>Harivansh</a:t>
            </a:r>
            <a:r>
              <a:rPr lang="en-US" dirty="0">
                <a:solidFill>
                  <a:schemeClr val="tx1"/>
                </a:solidFill>
              </a:rPr>
              <a:t> and </a:t>
            </a:r>
            <a:r>
              <a:rPr lang="en-US" dirty="0" err="1">
                <a:solidFill>
                  <a:schemeClr val="tx1"/>
                </a:solidFill>
              </a:rPr>
              <a:t>Madhav</a:t>
            </a:r>
            <a:r>
              <a:rPr lang="en-US" dirty="0">
                <a:solidFill>
                  <a:schemeClr val="tx1"/>
                </a:solidFill>
              </a:rPr>
              <a:t>, offering early access to sales, dedicated support, or personalized discounts to ensure retention and maximize their lifetime value.</a:t>
            </a:r>
            <a:endParaRPr lang="en-US" dirty="0" smtClean="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159" y="164024"/>
            <a:ext cx="7578672" cy="1524000"/>
          </a:xfrm>
        </p:spPr>
        <p:style>
          <a:lnRef idx="1">
            <a:schemeClr val="dk1"/>
          </a:lnRef>
          <a:fillRef idx="2">
            <a:schemeClr val="dk1"/>
          </a:fillRef>
          <a:effectRef idx="1">
            <a:schemeClr val="dk1"/>
          </a:effectRef>
          <a:fontRef idx="minor">
            <a:schemeClr val="dk1"/>
          </a:fontRef>
        </p:style>
        <p:txBody>
          <a:bodyPr/>
          <a:lstStyle/>
          <a:p>
            <a:pPr algn="ctr"/>
            <a:r>
              <a:rPr lang="en-IN" dirty="0" smtClean="0"/>
              <a:t>CONCLUSION</a:t>
            </a:r>
            <a:endParaRPr lang="en-IN" dirty="0"/>
          </a:p>
        </p:txBody>
      </p:sp>
      <p:sp>
        <p:nvSpPr>
          <p:cNvPr id="3" name="Content Placeholder 2"/>
          <p:cNvSpPr>
            <a:spLocks noGrp="1"/>
          </p:cNvSpPr>
          <p:nvPr>
            <p:ph idx="1"/>
          </p:nvPr>
        </p:nvSpPr>
        <p:spPr>
          <a:xfrm>
            <a:off x="829159" y="2028987"/>
            <a:ext cx="7578672" cy="3767670"/>
          </a:xfrm>
        </p:spPr>
        <p:txBody>
          <a:bodyPr>
            <a:normAutofit lnSpcReduction="10000"/>
          </a:bodyPr>
          <a:lstStyle/>
          <a:p>
            <a:r>
              <a:rPr lang="en-US" dirty="0">
                <a:solidFill>
                  <a:schemeClr val="tx1"/>
                </a:solidFill>
              </a:rPr>
              <a:t>The E-Commerce sales project demonstrates a business with strong gross revenue and high volume, yet critical issues around profitability and stability must be addressed to maximize </a:t>
            </a:r>
            <a:r>
              <a:rPr lang="en-US" dirty="0" smtClean="0">
                <a:solidFill>
                  <a:schemeClr val="tx1"/>
                </a:solidFill>
              </a:rPr>
              <a:t>potential </a:t>
            </a:r>
            <a:r>
              <a:rPr lang="en-US" b="1" dirty="0" smtClean="0">
                <a:solidFill>
                  <a:schemeClr val="tx1"/>
                </a:solidFill>
              </a:rPr>
              <a:t>and the conclusion </a:t>
            </a:r>
            <a:r>
              <a:rPr lang="en-US" b="1" dirty="0">
                <a:solidFill>
                  <a:schemeClr val="tx1"/>
                </a:solidFill>
              </a:rPr>
              <a:t>is that the business is highly effective at driving volume, particularly in the Clothing category (62.62% of quantity), but is being significantly hindered by major monthly profit volatility and the existence of multiple loss-making product </a:t>
            </a:r>
            <a:r>
              <a:rPr lang="en-US" b="1" dirty="0" smtClean="0">
                <a:solidFill>
                  <a:schemeClr val="tx1"/>
                </a:solidFill>
              </a:rPr>
              <a:t>sub-categories and </a:t>
            </a:r>
            <a:r>
              <a:rPr lang="en-US" dirty="0" smtClean="0">
                <a:solidFill>
                  <a:schemeClr val="tx1"/>
                </a:solidFill>
              </a:rPr>
              <a:t>The </a:t>
            </a:r>
            <a:r>
              <a:rPr lang="en-US" dirty="0">
                <a:solidFill>
                  <a:schemeClr val="tx1"/>
                </a:solidFill>
              </a:rPr>
              <a:t>immediate strategic priority must shift from simply maximizing sales to </a:t>
            </a:r>
            <a:r>
              <a:rPr lang="en-US" b="1" dirty="0">
                <a:solidFill>
                  <a:schemeClr val="tx1"/>
                </a:solidFill>
              </a:rPr>
              <a:t>maximizing profitable sales</a:t>
            </a:r>
            <a:r>
              <a:rPr lang="en-US" dirty="0">
                <a:solidFill>
                  <a:schemeClr val="tx1"/>
                </a:solidFill>
              </a:rPr>
              <a:t>. The business must take decisive action </a:t>
            </a:r>
            <a:r>
              <a:rPr lang="en-US" dirty="0" smtClean="0">
                <a:solidFill>
                  <a:schemeClr val="tx1"/>
                </a:solidFill>
              </a:rPr>
              <a:t>is to </a:t>
            </a:r>
            <a:r>
              <a:rPr lang="en-US" b="1" dirty="0" smtClean="0">
                <a:solidFill>
                  <a:schemeClr val="tx1"/>
                </a:solidFill>
              </a:rPr>
              <a:t>Eliminate </a:t>
            </a:r>
            <a:r>
              <a:rPr lang="en-US" b="1" dirty="0">
                <a:solidFill>
                  <a:schemeClr val="tx1"/>
                </a:solidFill>
              </a:rPr>
              <a:t>or repriced </a:t>
            </a:r>
            <a:r>
              <a:rPr lang="en-US" b="1" dirty="0" smtClean="0">
                <a:solidFill>
                  <a:schemeClr val="tx1"/>
                </a:solidFill>
              </a:rPr>
              <a:t>loss-making, Investigate </a:t>
            </a:r>
            <a:r>
              <a:rPr lang="en-US" b="1" dirty="0">
                <a:solidFill>
                  <a:schemeClr val="tx1"/>
                </a:solidFill>
              </a:rPr>
              <a:t>and stabilize the profit </a:t>
            </a:r>
            <a:r>
              <a:rPr lang="en-US" b="1" dirty="0" smtClean="0">
                <a:solidFill>
                  <a:schemeClr val="tx1"/>
                </a:solidFill>
              </a:rPr>
              <a:t>curve,</a:t>
            </a:r>
            <a:r>
              <a:rPr lang="en-US" dirty="0" smtClean="0">
                <a:solidFill>
                  <a:schemeClr val="tx1"/>
                </a:solidFill>
              </a:rPr>
              <a:t> </a:t>
            </a:r>
            <a:r>
              <a:rPr lang="en-US" b="1" dirty="0" smtClean="0">
                <a:solidFill>
                  <a:schemeClr val="tx1"/>
                </a:solidFill>
              </a:rPr>
              <a:t>Incentivize </a:t>
            </a:r>
            <a:r>
              <a:rPr lang="en-US" b="1" dirty="0">
                <a:solidFill>
                  <a:schemeClr val="tx1"/>
                </a:solidFill>
              </a:rPr>
              <a:t>pre-paid </a:t>
            </a:r>
            <a:r>
              <a:rPr lang="en-US" b="1" dirty="0" smtClean="0">
                <a:solidFill>
                  <a:schemeClr val="tx1"/>
                </a:solidFill>
              </a:rPr>
              <a:t>methods</a:t>
            </a:r>
            <a:endParaRPr lang="en-IN" dirty="0"/>
          </a:p>
        </p:txBody>
      </p:sp>
    </p:spTree>
    <p:extLst>
      <p:ext uri="{BB962C8B-B14F-4D97-AF65-F5344CB8AC3E}">
        <p14:creationId xmlns:p14="http://schemas.microsoft.com/office/powerpoint/2010/main" val="2191764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7061" y="210519"/>
            <a:ext cx="6554867" cy="1524000"/>
          </a:xfrm>
        </p:spPr>
        <p:txBody>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7061" y="2192338"/>
            <a:ext cx="6554867" cy="3767137"/>
          </a:xfrm>
        </p:spPr>
      </p:pic>
    </p:spTree>
    <p:extLst>
      <p:ext uri="{BB962C8B-B14F-4D97-AF65-F5344CB8AC3E}">
        <p14:creationId xmlns:p14="http://schemas.microsoft.com/office/powerpoint/2010/main" val="77359118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596</TotalTime>
  <Words>1259</Words>
  <Application>Microsoft Office PowerPoint</Application>
  <PresentationFormat>On-screen Show (4:3)</PresentationFormat>
  <Paragraphs>92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Century Gothic</vt:lpstr>
      <vt:lpstr>Wingdings 3</vt:lpstr>
      <vt:lpstr>Slice</vt:lpstr>
      <vt:lpstr>E-Commerce Sales Dashboard Project – Power BI</vt:lpstr>
      <vt:lpstr>CONTENTS</vt:lpstr>
      <vt:lpstr>OBJECTIVE</vt:lpstr>
      <vt:lpstr>Data sourcing and data cleaning</vt:lpstr>
      <vt:lpstr>Screenshots for data cleaning</vt:lpstr>
      <vt:lpstr>Overview</vt:lpstr>
      <vt:lpstr>PROFIT BY MONTH</vt:lpstr>
      <vt:lpstr>Sales by state</vt:lpstr>
      <vt:lpstr>Quantity by category</vt:lpstr>
      <vt:lpstr>QUANTITY BY PAYMENT MODE DISTRIBUTION</vt:lpstr>
      <vt:lpstr>Sales by CUSTOMER</vt:lpstr>
      <vt:lpstr>PROFIT BY SUB-CATEGORY</vt:lpstr>
      <vt:lpstr>Business insights and key FINDINGS</vt:lpstr>
      <vt:lpstr>PowerPoint Presentation</vt:lpstr>
      <vt:lpstr>KEY FINDINGS</vt:lpstr>
      <vt:lpstr>Recommendations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Dashboard Project – Power BI</dc:title>
  <dc:subject/>
  <dc:creator/>
  <cp:keywords/>
  <dc:description>generated using python-pptx</dc:description>
  <cp:lastModifiedBy>Manoj kumar</cp:lastModifiedBy>
  <cp:revision>31</cp:revision>
  <dcterms:created xsi:type="dcterms:W3CDTF">2013-01-27T09:14:16Z</dcterms:created>
  <dcterms:modified xsi:type="dcterms:W3CDTF">2025-10-09T06:26:38Z</dcterms:modified>
  <cp:category/>
</cp:coreProperties>
</file>